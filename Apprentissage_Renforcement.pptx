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3"/>
  </p:notesMasterIdLst>
  <p:sldIdLst>
    <p:sldId id="508" r:id="rId2"/>
    <p:sldId id="512" r:id="rId3"/>
    <p:sldId id="513" r:id="rId4"/>
    <p:sldId id="511" r:id="rId5"/>
    <p:sldId id="515" r:id="rId6"/>
    <p:sldId id="516" r:id="rId7"/>
    <p:sldId id="517" r:id="rId8"/>
    <p:sldId id="518" r:id="rId9"/>
    <p:sldId id="519" r:id="rId10"/>
    <p:sldId id="520" r:id="rId11"/>
    <p:sldId id="521" r:id="rId12"/>
    <p:sldId id="524" r:id="rId13"/>
    <p:sldId id="526" r:id="rId14"/>
    <p:sldId id="527" r:id="rId15"/>
    <p:sldId id="531" r:id="rId16"/>
    <p:sldId id="536" r:id="rId17"/>
    <p:sldId id="533" r:id="rId18"/>
    <p:sldId id="537" r:id="rId19"/>
    <p:sldId id="538" r:id="rId20"/>
    <p:sldId id="539" r:id="rId21"/>
    <p:sldId id="534" r:id="rId22"/>
    <p:sldId id="540" r:id="rId23"/>
    <p:sldId id="541" r:id="rId24"/>
    <p:sldId id="542" r:id="rId25"/>
    <p:sldId id="543" r:id="rId26"/>
    <p:sldId id="544" r:id="rId27"/>
    <p:sldId id="545" r:id="rId28"/>
    <p:sldId id="546" r:id="rId29"/>
    <p:sldId id="547" r:id="rId30"/>
    <p:sldId id="548" r:id="rId31"/>
    <p:sldId id="551" r:id="rId32"/>
    <p:sldId id="549" r:id="rId33"/>
    <p:sldId id="552" r:id="rId34"/>
    <p:sldId id="550" r:id="rId35"/>
    <p:sldId id="553" r:id="rId36"/>
    <p:sldId id="558" r:id="rId37"/>
    <p:sldId id="559" r:id="rId38"/>
    <p:sldId id="560" r:id="rId39"/>
    <p:sldId id="561" r:id="rId40"/>
    <p:sldId id="562" r:id="rId41"/>
    <p:sldId id="563" r:id="rId42"/>
  </p:sldIdLst>
  <p:sldSz cx="12192000" cy="6858000"/>
  <p:notesSz cx="7099300" cy="10234613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6EEAA"/>
    <a:srgbClr val="FF3300"/>
    <a:srgbClr val="0000FF"/>
    <a:srgbClr val="FF9933"/>
    <a:srgbClr val="F2F2F8"/>
    <a:srgbClr val="E0E0F0"/>
    <a:srgbClr val="5050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8" autoAdjust="0"/>
    <p:restoredTop sz="94660"/>
  </p:normalViewPr>
  <p:slideViewPr>
    <p:cSldViewPr>
      <p:cViewPr varScale="1">
        <p:scale>
          <a:sx n="83" d="100"/>
          <a:sy n="83" d="100"/>
        </p:scale>
        <p:origin x="475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343A90F2-74DF-4C37-8CED-2CECEAA76420}" type="datetimeFigureOut">
              <a:rPr lang="fr-FR"/>
              <a:pPr>
                <a:defRPr/>
              </a:pPr>
              <a:t>05/04/2026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261AE438-207A-4D47-9E5A-599811B0311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fr-FR" altLang="fr-FR" sz="2400" smtClean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7717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17717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9C417-CBDC-456B-896E-73DE379A7BBB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8D073-63F9-4562-A096-30E0F7E5BAD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26891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5B273A-CC0E-448F-BDAB-74B2C7355EE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71174-3373-4071-B719-34FCE5A39366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4723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F810A2-B7D8-445E-BEA2-53D6F384310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DC0E4-D597-4773-8484-CEA2E8BB8214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71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E6922C-787A-414E-8D75-30E6871A1FC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597B05-8591-4D09-BC29-7B6C23182448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294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EA16D-EFA3-4E37-AF48-C357020D6C5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C1278-3102-4868-9033-323F0FFD5A75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500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D46042-67A7-4A85-A3A8-DD9DEE21182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6210D-7552-4C8E-BCB9-48EB5F1BB2C8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41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AFA9CF-96B1-4335-AF79-C9A3DD0B873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44953-0D4B-48DF-83D8-546A4616B916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974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F326C-00B4-4E8D-AA24-22A4ACFC87E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27A51-AA11-426A-9EF0-2C45BB218518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631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0B3C95-7F6F-4482-A546-6BD2FBB3370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DBCBF-919C-4580-942C-A755A86FFC4A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1678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E3F95-5281-4A3C-9F3E-DB5BF375550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F1DF1-4209-45BF-9EEB-70C5B78226E6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24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FE643-DD6A-48C3-B051-BB2BBC2A349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661720-8AD9-43E9-A0D9-218326772AEB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96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91CB2-FBEB-4053-8B6E-C9B3725653BE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DCCE3-AE70-4E20-9ECD-664C56EDFA47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354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9BAB2A-0EAE-461A-B52A-438DBB69382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2022E5-140A-4ACD-A1E2-6842CFC176D7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15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D228BAEF-D159-4910-A6FE-3CA0764A4CC0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2400" smtClean="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fr-FR" altLang="fr-FR" sz="1800" smtClean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7614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7EF09C1-03F6-40E5-B474-8065384595D8}" type="datetime1">
              <a:rPr lang="fr-FR"/>
              <a:pPr>
                <a:defRPr/>
              </a:pPr>
              <a:t>05/04/2026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  <p:sldLayoutId id="2147484131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fr-FR" dirty="0" smtClean="0"/>
              <a:t>Apprentissage par renforcement (RL)</a:t>
            </a:r>
          </a:p>
        </p:txBody>
      </p:sp>
      <p:sp>
        <p:nvSpPr>
          <p:cNvPr id="4099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altLang="fr-FR" smtClean="0"/>
              <a:t>Pr. Issam QAFFOU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11213"/>
          </a:xfrm>
        </p:spPr>
        <p:txBody>
          <a:bodyPr/>
          <a:lstStyle/>
          <a:p>
            <a:r>
              <a:rPr lang="fr-FR" sz="3600" dirty="0"/>
              <a:t>Introduction générale</a:t>
            </a:r>
            <a:endParaRPr lang="fr-FR" altLang="fr-FR" sz="3600" b="1" dirty="0" smtClean="0"/>
          </a:p>
        </p:txBody>
      </p:sp>
      <p:sp>
        <p:nvSpPr>
          <p:cNvPr id="8195" name="Espace réservé du contenu 2"/>
          <p:cNvSpPr>
            <a:spLocks noGrp="1"/>
          </p:cNvSpPr>
          <p:nvPr>
            <p:ph idx="1"/>
          </p:nvPr>
        </p:nvSpPr>
        <p:spPr>
          <a:xfrm>
            <a:off x="609600" y="1484313"/>
            <a:ext cx="10972800" cy="4383087"/>
          </a:xfrm>
        </p:spPr>
        <p:txBody>
          <a:bodyPr/>
          <a:lstStyle/>
          <a:p>
            <a:r>
              <a:rPr lang="fr-FR" sz="2400" dirty="0"/>
              <a:t>L’apprentissage par </a:t>
            </a:r>
            <a:r>
              <a:rPr lang="fr-FR" sz="2400" dirty="0" smtClean="0"/>
              <a:t>renforcement (RL) </a:t>
            </a:r>
            <a:r>
              <a:rPr lang="fr-FR" sz="2400" dirty="0"/>
              <a:t>est une approche d’apprentissage automatique où un </a:t>
            </a:r>
            <a:r>
              <a:rPr lang="fr-FR" sz="2400" b="1" dirty="0"/>
              <a:t>agent</a:t>
            </a:r>
            <a:r>
              <a:rPr lang="fr-FR" sz="2400" dirty="0"/>
              <a:t> apprend à </a:t>
            </a:r>
            <a:r>
              <a:rPr lang="fr-FR" sz="2400" b="1" dirty="0"/>
              <a:t>agir dans un environnement</a:t>
            </a:r>
            <a:r>
              <a:rPr lang="fr-FR" sz="2400" dirty="0"/>
              <a:t> afin de </a:t>
            </a:r>
            <a:r>
              <a:rPr lang="fr-FR" sz="2400" b="1" dirty="0">
                <a:solidFill>
                  <a:srgbClr val="FF0000"/>
                </a:solidFill>
              </a:rPr>
              <a:t>maximiser une récompense cumulative</a:t>
            </a:r>
            <a:r>
              <a:rPr lang="fr-FR" sz="2400" dirty="0">
                <a:solidFill>
                  <a:srgbClr val="FF0000"/>
                </a:solidFill>
              </a:rPr>
              <a:t>.</a:t>
            </a:r>
          </a:p>
          <a:p>
            <a:r>
              <a:rPr lang="fr-FR" sz="2400" dirty="0"/>
              <a:t>Contrairement à :</a:t>
            </a:r>
          </a:p>
          <a:p>
            <a:pPr lvl="1"/>
            <a:r>
              <a:rPr lang="fr-FR" sz="2000" b="1" dirty="0"/>
              <a:t>L’apprentissage supervisé</a:t>
            </a:r>
            <a:r>
              <a:rPr lang="fr-FR" sz="2000" dirty="0"/>
              <a:t> (où on fournit les bonnes réponses),</a:t>
            </a:r>
          </a:p>
          <a:p>
            <a:pPr lvl="1"/>
            <a:r>
              <a:rPr lang="fr-FR" sz="2000" b="1" dirty="0"/>
              <a:t>L’apprentissage non supervisé</a:t>
            </a:r>
            <a:r>
              <a:rPr lang="fr-FR" sz="2000" dirty="0"/>
              <a:t> (où on cherche des structures cachées dans les données),</a:t>
            </a:r>
          </a:p>
          <a:p>
            <a:r>
              <a:rPr lang="fr-FR" sz="2400" dirty="0" smtClean="0"/>
              <a:t>L’apprentissage </a:t>
            </a:r>
            <a:r>
              <a:rPr lang="fr-FR" sz="2400" dirty="0"/>
              <a:t>par </a:t>
            </a:r>
            <a:r>
              <a:rPr lang="fr-FR" sz="2400" dirty="0" smtClean="0"/>
              <a:t>renforcement (RL) </a:t>
            </a:r>
            <a:r>
              <a:rPr lang="fr-FR" sz="2400" dirty="0"/>
              <a:t>repose sur </a:t>
            </a:r>
            <a:endParaRPr lang="fr-FR" sz="2400" dirty="0" smtClean="0"/>
          </a:p>
          <a:p>
            <a:pPr lvl="1"/>
            <a:r>
              <a:rPr lang="fr-FR" sz="2000" b="1" dirty="0" smtClean="0">
                <a:solidFill>
                  <a:srgbClr val="FF0000"/>
                </a:solidFill>
              </a:rPr>
              <a:t>l’expérience</a:t>
            </a:r>
            <a:r>
              <a:rPr lang="fr-FR" sz="2000" dirty="0"/>
              <a:t>, </a:t>
            </a:r>
            <a:endParaRPr lang="fr-FR" sz="2000" dirty="0" smtClean="0"/>
          </a:p>
          <a:p>
            <a:pPr lvl="1"/>
            <a:r>
              <a:rPr lang="fr-FR" sz="2000" dirty="0" smtClean="0"/>
              <a:t>la </a:t>
            </a:r>
            <a:r>
              <a:rPr lang="fr-FR" sz="2000" b="1" dirty="0">
                <a:solidFill>
                  <a:srgbClr val="FF0000"/>
                </a:solidFill>
              </a:rPr>
              <a:t>prise de décision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endParaRPr lang="fr-FR" sz="2000" dirty="0" smtClean="0">
              <a:solidFill>
                <a:srgbClr val="FF0000"/>
              </a:solidFill>
            </a:endParaRPr>
          </a:p>
          <a:p>
            <a:pPr lvl="1"/>
            <a:r>
              <a:rPr lang="fr-FR" sz="2000" dirty="0" smtClean="0"/>
              <a:t>et </a:t>
            </a:r>
            <a:r>
              <a:rPr lang="fr-FR" sz="2000" dirty="0"/>
              <a:t>le </a:t>
            </a:r>
            <a:r>
              <a:rPr lang="fr-FR" sz="2000" b="1" dirty="0">
                <a:solidFill>
                  <a:srgbClr val="FF0000"/>
                </a:solidFill>
              </a:rPr>
              <a:t>retour (récompense ou punition</a:t>
            </a:r>
            <a:r>
              <a:rPr lang="fr-FR" sz="2000" b="1" dirty="0" smtClean="0">
                <a:solidFill>
                  <a:srgbClr val="FF0000"/>
                </a:solidFill>
              </a:rPr>
              <a:t>)</a:t>
            </a:r>
            <a:r>
              <a:rPr lang="fr-FR" sz="2000" dirty="0" smtClean="0">
                <a:solidFill>
                  <a:srgbClr val="FF0000"/>
                </a:solidFill>
              </a:rPr>
              <a:t>.</a:t>
            </a:r>
            <a:endParaRPr lang="fr-FR" sz="2000" dirty="0">
              <a:solidFill>
                <a:srgbClr val="FF0000"/>
              </a:solidFill>
            </a:endParaRPr>
          </a:p>
        </p:txBody>
      </p:sp>
      <p:sp>
        <p:nvSpPr>
          <p:cNvPr id="8196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FF7129-6587-42CB-99F4-9818ADB1BD62}" type="slidenum">
              <a:rPr lang="fr-FR" altLang="fr-F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fr-FR" altLang="fr-FR" sz="1200" dirty="0" smtClean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title"/>
          </p:nvPr>
        </p:nvSpPr>
        <p:spPr>
          <a:xfrm>
            <a:off x="565150" y="260648"/>
            <a:ext cx="10972800" cy="1152227"/>
          </a:xfrm>
        </p:spPr>
        <p:txBody>
          <a:bodyPr/>
          <a:lstStyle/>
          <a:p>
            <a:r>
              <a:rPr lang="fr-FR" sz="4000" dirty="0"/>
              <a:t>Les concepts fondamentaux</a:t>
            </a:r>
            <a:endParaRPr lang="fr-FR" altLang="fr-FR" sz="4000" b="1" dirty="0" smtClean="0"/>
          </a:p>
        </p:txBody>
      </p:sp>
      <p:sp>
        <p:nvSpPr>
          <p:cNvPr id="9220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3BF368-696B-428F-85A4-C6C0864DF097}" type="slidenum">
              <a:rPr lang="fr-FR" altLang="fr-F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959936"/>
              </p:ext>
            </p:extLst>
          </p:nvPr>
        </p:nvGraphicFramePr>
        <p:xfrm>
          <a:off x="767408" y="1700807"/>
          <a:ext cx="10513168" cy="4349983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725332780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888267025"/>
                    </a:ext>
                  </a:extLst>
                </a:gridCol>
              </a:tblGrid>
              <a:tr h="350157"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Concept</a:t>
                      </a:r>
                    </a:p>
                  </a:txBody>
                  <a:tcPr marL="76200" marR="76200" marT="38100" marB="38100"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Description</a:t>
                      </a:r>
                    </a:p>
                  </a:txBody>
                  <a:tcPr marL="76200" marR="76200" marT="38100" marB="38100" anchor="ctr">
                    <a:solidFill>
                      <a:srgbClr val="E6E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66927"/>
                  </a:ext>
                </a:extLst>
              </a:tr>
              <a:tr h="350157">
                <a:tc>
                  <a:txBody>
                    <a:bodyPr/>
                    <a:lstStyle/>
                    <a:p>
                      <a:pPr algn="l"/>
                      <a:r>
                        <a:rPr lang="fr-FR" sz="1800" dirty="0"/>
                        <a:t>Agent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Entité qui apprend et prend des décisions.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423972316"/>
                  </a:ext>
                </a:extLst>
              </a:tr>
              <a:tr h="350157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Environnement (Environment)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dirty="0"/>
                        <a:t>Le monde dans lequel </a:t>
                      </a:r>
                      <a:r>
                        <a:rPr lang="fr-FR" sz="1800" b="1" dirty="0"/>
                        <a:t>agit</a:t>
                      </a:r>
                      <a:r>
                        <a:rPr lang="fr-FR" sz="1800" dirty="0"/>
                        <a:t> l’agent.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521895360"/>
                  </a:ext>
                </a:extLst>
              </a:tr>
              <a:tr h="460609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État (State, 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dirty="0"/>
                        <a:t>Représentation de la </a:t>
                      </a:r>
                      <a:r>
                        <a:rPr lang="fr-FR" sz="1800" b="1" dirty="0"/>
                        <a:t>situation actuelle </a:t>
                      </a:r>
                      <a:r>
                        <a:rPr lang="fr-FR" sz="1800" dirty="0"/>
                        <a:t>de l’environnement.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66309606"/>
                  </a:ext>
                </a:extLst>
              </a:tr>
              <a:tr h="350157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Action (Action, a)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Choix effectué </a:t>
                      </a:r>
                      <a:r>
                        <a:rPr lang="fr-FR" sz="1800" dirty="0"/>
                        <a:t>par l’agent à un moment donné.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126298724"/>
                  </a:ext>
                </a:extLst>
              </a:tr>
              <a:tr h="612774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Récompense (Reward, r)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Signal numérique</a:t>
                      </a:r>
                      <a:r>
                        <a:rPr lang="fr-FR" sz="1800" dirty="0"/>
                        <a:t> donné par l’environnement après une action (peut être positive ou négative).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584708564"/>
                  </a:ext>
                </a:extLst>
              </a:tr>
              <a:tr h="612774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Politique (Policy, </a:t>
                      </a:r>
                      <a:r>
                        <a:rPr lang="el-GR" sz="1800"/>
                        <a:t>π)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Stratégie</a:t>
                      </a:r>
                      <a:r>
                        <a:rPr lang="fr-FR" sz="1800" dirty="0"/>
                        <a:t> qui définit quelle action choisir dans chaque état.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114461240"/>
                  </a:ext>
                </a:extLst>
              </a:tr>
              <a:tr h="612774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Valeur (Value, V(s))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Espérance</a:t>
                      </a:r>
                      <a:r>
                        <a:rPr lang="fr-FR" sz="1800" dirty="0"/>
                        <a:t> de la récompense cumulée future depuis un </a:t>
                      </a:r>
                      <a:r>
                        <a:rPr lang="fr-FR" sz="1800" b="1" dirty="0"/>
                        <a:t>état</a:t>
                      </a:r>
                      <a:r>
                        <a:rPr lang="fr-FR" sz="1800" dirty="0"/>
                        <a:t> donné.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893574061"/>
                  </a:ext>
                </a:extLst>
              </a:tr>
              <a:tr h="612774">
                <a:tc>
                  <a:txBody>
                    <a:bodyPr/>
                    <a:lstStyle/>
                    <a:p>
                      <a:pPr algn="l"/>
                      <a:r>
                        <a:rPr lang="fr-FR" sz="1800"/>
                        <a:t>Fonction d’action-valeur (Q(s, a))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b="1" dirty="0"/>
                        <a:t>Espérance</a:t>
                      </a:r>
                      <a:r>
                        <a:rPr lang="fr-FR" sz="1800" dirty="0"/>
                        <a:t> de la récompense cumulée future après avoir pris </a:t>
                      </a:r>
                      <a:r>
                        <a:rPr lang="fr-FR" sz="1800" b="1" dirty="0"/>
                        <a:t>l’action</a:t>
                      </a:r>
                      <a:r>
                        <a:rPr lang="fr-FR" sz="1800" dirty="0"/>
                        <a:t> a dans l’état s.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78007542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title"/>
          </p:nvPr>
        </p:nvSpPr>
        <p:spPr>
          <a:xfrm>
            <a:off x="766763" y="523876"/>
            <a:ext cx="8229600" cy="606248"/>
          </a:xfrm>
        </p:spPr>
        <p:txBody>
          <a:bodyPr/>
          <a:lstStyle/>
          <a:p>
            <a:r>
              <a:rPr lang="fr-FR" altLang="fr-FR" sz="3600" dirty="0" smtClean="0"/>
              <a:t>Agent RL</a:t>
            </a:r>
          </a:p>
        </p:txBody>
      </p:sp>
      <p:sp>
        <p:nvSpPr>
          <p:cNvPr id="7172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D6D43B6-6420-44E9-90CF-493989142669}" type="slidenum">
              <a:rPr lang="fr-FR" altLang="fr-FR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  <p:pic>
        <p:nvPicPr>
          <p:cNvPr id="7173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2348508"/>
            <a:ext cx="6054725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ensées 1"/>
          <p:cNvSpPr/>
          <p:nvPr/>
        </p:nvSpPr>
        <p:spPr>
          <a:xfrm>
            <a:off x="5332661" y="1700808"/>
            <a:ext cx="1223962" cy="1295400"/>
          </a:xfrm>
          <a:prstGeom prst="cloudCallout">
            <a:avLst/>
          </a:prstGeom>
          <a:solidFill>
            <a:srgbClr val="FFC000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FR" dirty="0"/>
              <a:t>But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157" y="1700808"/>
            <a:ext cx="432048" cy="1484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 smtClean="0">
                <a:solidFill>
                  <a:schemeClr val="tx1"/>
                </a:solidFill>
              </a:rPr>
              <a:t>s1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s2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sn</a:t>
            </a: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13120" y="4329662"/>
            <a:ext cx="432048" cy="1484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a</a:t>
            </a:r>
            <a:r>
              <a:rPr lang="fr-FR" dirty="0" smtClean="0">
                <a:solidFill>
                  <a:schemeClr val="tx1"/>
                </a:solidFill>
              </a:rPr>
              <a:t>1</a:t>
            </a:r>
          </a:p>
          <a:p>
            <a:r>
              <a:rPr lang="fr-FR" dirty="0">
                <a:solidFill>
                  <a:schemeClr val="tx1"/>
                </a:solidFill>
              </a:rPr>
              <a:t>a</a:t>
            </a:r>
            <a:r>
              <a:rPr lang="fr-FR" dirty="0" smtClean="0">
                <a:solidFill>
                  <a:schemeClr val="tx1"/>
                </a:solidFill>
              </a:rPr>
              <a:t>2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r>
              <a:rPr lang="fr-FR" dirty="0" smtClean="0">
                <a:solidFill>
                  <a:schemeClr val="tx1"/>
                </a:solidFill>
              </a:rPr>
              <a:t>.</a:t>
            </a:r>
          </a:p>
          <a:p>
            <a:r>
              <a:rPr lang="fr-FR" dirty="0" err="1" smtClean="0">
                <a:solidFill>
                  <a:schemeClr val="tx1"/>
                </a:solidFill>
              </a:rPr>
              <a:t>a</a:t>
            </a:r>
            <a:r>
              <a:rPr lang="fr-FR" dirty="0" err="1">
                <a:solidFill>
                  <a:schemeClr val="tx1"/>
                </a:solidFill>
              </a:rPr>
              <a:t>m</a:t>
            </a:r>
            <a:endParaRPr lang="fr-FR" dirty="0" smtClean="0">
              <a:solidFill>
                <a:schemeClr val="tx1"/>
              </a:solidFill>
            </a:endParaRP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20833" y="1987625"/>
            <a:ext cx="2808311" cy="14845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r</a:t>
            </a:r>
            <a:r>
              <a:rPr lang="fr-FR" dirty="0" smtClean="0">
                <a:solidFill>
                  <a:schemeClr val="tx1"/>
                </a:solidFill>
              </a:rPr>
              <a:t>1 </a:t>
            </a:r>
            <a:r>
              <a:rPr lang="fr-FR" dirty="0">
                <a:solidFill>
                  <a:schemeClr val="tx1"/>
                </a:solidFill>
              </a:rPr>
              <a:t>r</a:t>
            </a:r>
            <a:r>
              <a:rPr lang="fr-FR" dirty="0" smtClean="0">
                <a:solidFill>
                  <a:schemeClr val="tx1"/>
                </a:solidFill>
              </a:rPr>
              <a:t>2 ... </a:t>
            </a:r>
            <a:r>
              <a:rPr lang="fr-FR" dirty="0" err="1" smtClean="0">
                <a:solidFill>
                  <a:schemeClr val="tx1"/>
                </a:solidFill>
              </a:rPr>
              <a:t>rp</a:t>
            </a:r>
            <a:endParaRPr lang="fr-FR" dirty="0" smtClean="0">
              <a:solidFill>
                <a:schemeClr val="tx1"/>
              </a:solidFill>
            </a:endParaRPr>
          </a:p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432" y="5738336"/>
            <a:ext cx="105989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L’agent agit, observe les conséquences, reçoit une récompense </a:t>
            </a:r>
            <a:r>
              <a:rPr lang="fr-FR" sz="2000" dirty="0" smtClean="0"/>
              <a:t>ou </a:t>
            </a:r>
            <a:r>
              <a:rPr lang="fr-FR" sz="2000" dirty="0"/>
              <a:t>une </a:t>
            </a:r>
            <a:r>
              <a:rPr lang="fr-FR" sz="2000" dirty="0" smtClean="0"/>
              <a:t>punition, </a:t>
            </a:r>
            <a:r>
              <a:rPr lang="fr-FR" sz="2000" dirty="0"/>
              <a:t>puis ajuste son comportement pour obtenir de meilleures récompenses à l’avenir.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58231" y="1500891"/>
            <a:ext cx="504242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dirty="0"/>
              <a:t>L’agent </a:t>
            </a:r>
            <a:r>
              <a:rPr lang="fr-FR" sz="2000" b="1" dirty="0">
                <a:solidFill>
                  <a:srgbClr val="FF0000"/>
                </a:solidFill>
              </a:rPr>
              <a:t>observe l’état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actuel </a:t>
            </a:r>
            <a:r>
              <a:rPr lang="fr-FR" sz="2000" dirty="0" smtClean="0"/>
              <a:t>st.</a:t>
            </a:r>
            <a:endParaRPr lang="fr-FR" sz="2000" dirty="0"/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Il </a:t>
            </a:r>
            <a:r>
              <a:rPr lang="fr-FR" sz="2000" b="1" dirty="0">
                <a:solidFill>
                  <a:srgbClr val="FF0000"/>
                </a:solidFill>
              </a:rPr>
              <a:t>choisit une action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 smtClean="0"/>
              <a:t>at.</a:t>
            </a:r>
            <a:endParaRPr lang="fr-FR" sz="2000" dirty="0"/>
          </a:p>
          <a:p>
            <a:pPr marL="457200" indent="-457200">
              <a:buFont typeface="+mj-lt"/>
              <a:buAutoNum type="arabicPeriod"/>
            </a:pPr>
            <a:r>
              <a:rPr lang="fr-FR" sz="2000" dirty="0"/>
              <a:t>L’environnement </a:t>
            </a:r>
            <a:r>
              <a:rPr lang="fr-FR" sz="2000" b="1" dirty="0">
                <a:solidFill>
                  <a:srgbClr val="FF0000"/>
                </a:solidFill>
              </a:rPr>
              <a:t>réagit</a:t>
            </a:r>
            <a:r>
              <a:rPr lang="fr-FR" sz="2000" dirty="0"/>
              <a:t> </a:t>
            </a:r>
            <a:r>
              <a:rPr lang="fr-FR" sz="2000" dirty="0" smtClean="0"/>
              <a:t>et </a:t>
            </a:r>
            <a:r>
              <a:rPr lang="fr-FR" sz="2000" dirty="0"/>
              <a:t>lui donne une </a:t>
            </a:r>
            <a:r>
              <a:rPr lang="fr-FR" sz="2000" b="1" dirty="0">
                <a:solidFill>
                  <a:srgbClr val="FF0000"/>
                </a:solidFill>
              </a:rPr>
              <a:t>récompense</a:t>
            </a:r>
            <a:r>
              <a:rPr lang="fr-FR" sz="2000" dirty="0"/>
              <a:t> </a:t>
            </a:r>
            <a:r>
              <a:rPr lang="fr-FR" sz="2000" dirty="0" smtClean="0"/>
              <a:t>rt+1 </a:t>
            </a:r>
            <a:r>
              <a:rPr lang="fr-FR" sz="2000" dirty="0"/>
              <a:t>et un </a:t>
            </a:r>
            <a:r>
              <a:rPr lang="fr-FR" sz="2000" b="1" dirty="0">
                <a:solidFill>
                  <a:srgbClr val="FF0000"/>
                </a:solidFill>
              </a:rPr>
              <a:t>nouvel état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 smtClean="0"/>
              <a:t>st+1.</a:t>
            </a:r>
            <a:endParaRPr lang="fr-FR" sz="2000" dirty="0"/>
          </a:p>
          <a:p>
            <a:r>
              <a:rPr lang="fr-FR" sz="2000" dirty="0"/>
              <a:t>L’agent </a:t>
            </a:r>
            <a:r>
              <a:rPr lang="fr-FR" sz="2000" b="1" dirty="0">
                <a:solidFill>
                  <a:srgbClr val="FF0000"/>
                </a:solidFill>
              </a:rPr>
              <a:t>met à jour sa stratégie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pour mieux agir à </a:t>
            </a:r>
            <a:r>
              <a:rPr lang="fr-FR" sz="2000" dirty="0" smtClean="0"/>
              <a:t>l’avenir. Ce </a:t>
            </a:r>
            <a:r>
              <a:rPr lang="fr-FR" sz="2000" dirty="0"/>
              <a:t>cycle se répète à chaque instant.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/>
          <p:cNvSpPr>
            <a:spLocks noGrp="1"/>
          </p:cNvSpPr>
          <p:nvPr>
            <p:ph type="title"/>
          </p:nvPr>
        </p:nvSpPr>
        <p:spPr>
          <a:xfrm>
            <a:off x="609600" y="600869"/>
            <a:ext cx="10972800" cy="523875"/>
          </a:xfrm>
        </p:spPr>
        <p:txBody>
          <a:bodyPr/>
          <a:lstStyle/>
          <a:p>
            <a:r>
              <a:rPr lang="fr-FR" sz="2800" dirty="0"/>
              <a:t>Comparaison avec les autres types d’apprentissage</a:t>
            </a:r>
            <a:endParaRPr lang="fr-FR" altLang="fr-FR" sz="2800" b="1" dirty="0" smtClean="0"/>
          </a:p>
        </p:txBody>
      </p:sp>
      <p:sp>
        <p:nvSpPr>
          <p:cNvPr id="11268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A51DD58-39A2-41AD-B54C-0998A8BAB50B}" type="slidenum">
              <a:rPr lang="fr-FR" altLang="fr-FR" sz="1200" smtClean="0">
                <a:latin typeface="Arial Black" panose="020B0A04020102020204" pitchFamily="34" charset="0"/>
              </a:rPr>
              <a:pPr/>
              <a:t>5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8538590"/>
              </p:ext>
            </p:extLst>
          </p:nvPr>
        </p:nvGraphicFramePr>
        <p:xfrm>
          <a:off x="695400" y="1556792"/>
          <a:ext cx="10972800" cy="17373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50096">
                  <a:extLst>
                    <a:ext uri="{9D8B030D-6E8A-4147-A177-3AD203B41FA5}">
                      <a16:colId xmlns:a16="http://schemas.microsoft.com/office/drawing/2014/main" val="3884227821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582234995"/>
                    </a:ext>
                  </a:extLst>
                </a:gridCol>
                <a:gridCol w="5126360">
                  <a:extLst>
                    <a:ext uri="{9D8B030D-6E8A-4147-A177-3AD203B41FA5}">
                      <a16:colId xmlns:a16="http://schemas.microsoft.com/office/drawing/2014/main" val="4254442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 dirty="0"/>
                        <a:t>Type d’apprentissage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Exemple typique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Comment ça apprend ?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330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Supervisé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Reconnaissance d’image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On donne les bonnes réponses (étiquettes)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58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Non supervisé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Regroupement (clustering)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On cherche des structures cachées dans les données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1653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Par renforcement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Jeu, robot, agent autonome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L’agent apprend par interaction et récompense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525999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95400" y="3749064"/>
            <a:ext cx="986509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Objectif </a:t>
            </a:r>
            <a:r>
              <a:rPr lang="fr-FR" sz="2800" dirty="0" smtClean="0">
                <a:solidFill>
                  <a:srgbClr val="FF0000"/>
                </a:solidFill>
              </a:rPr>
              <a:t>mathématique de RL</a:t>
            </a:r>
            <a:endParaRPr lang="fr-FR" sz="2800" dirty="0">
              <a:solidFill>
                <a:srgbClr val="FF0000"/>
              </a:solidFill>
            </a:endParaRPr>
          </a:p>
          <a:p>
            <a:endParaRPr lang="fr-FR" sz="2000" dirty="0" smtClean="0"/>
          </a:p>
          <a:p>
            <a:r>
              <a:rPr lang="fr-FR" sz="2000" dirty="0" smtClean="0"/>
              <a:t>L’agent </a:t>
            </a:r>
            <a:r>
              <a:rPr lang="fr-FR" sz="2000" dirty="0"/>
              <a:t>veut </a:t>
            </a:r>
            <a:r>
              <a:rPr lang="fr-FR" sz="2000" b="1" dirty="0"/>
              <a:t>maximiser</a:t>
            </a:r>
            <a:r>
              <a:rPr lang="fr-FR" sz="2000" dirty="0"/>
              <a:t> la somme des récompenses futures :</a:t>
            </a:r>
          </a:p>
        </p:txBody>
      </p:sp>
      <p:sp>
        <p:nvSpPr>
          <p:cNvPr id="6" name="Rectangle 5"/>
          <p:cNvSpPr/>
          <p:nvPr/>
        </p:nvSpPr>
        <p:spPr>
          <a:xfrm>
            <a:off x="695400" y="5265725"/>
            <a:ext cx="10972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/>
              <a:t>où :</a:t>
            </a:r>
          </a:p>
          <a:p>
            <a:r>
              <a:rPr lang="fr-FR" sz="2000" dirty="0" err="1" smtClean="0"/>
              <a:t>r</a:t>
            </a:r>
            <a:r>
              <a:rPr lang="fr-FR" sz="2000" baseline="-25000" dirty="0" err="1" smtClean="0"/>
              <a:t>t</a:t>
            </a:r>
            <a:r>
              <a:rPr lang="fr-FR" sz="2000" dirty="0" smtClean="0"/>
              <a:t>​ </a:t>
            </a:r>
            <a:r>
              <a:rPr lang="fr-FR" sz="2000" dirty="0"/>
              <a:t>= récompense à l’instant t</a:t>
            </a:r>
          </a:p>
          <a:p>
            <a:r>
              <a:rPr lang="fr-FR" sz="2000" dirty="0"/>
              <a:t>γ∈[0,1</a:t>
            </a:r>
            <a:r>
              <a:rPr lang="fr-FR" sz="2000" dirty="0" smtClean="0"/>
              <a:t>] = </a:t>
            </a:r>
            <a:r>
              <a:rPr lang="fr-FR" sz="2000" b="1" dirty="0"/>
              <a:t>facteur d’actualisation</a:t>
            </a:r>
            <a:r>
              <a:rPr lang="fr-FR" sz="2000" dirty="0"/>
              <a:t> (on valorise plus les récompenses proches dans le temps)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539" y="4859186"/>
            <a:ext cx="4458922" cy="701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re 1"/>
          <p:cNvSpPr>
            <a:spLocks noGrp="1"/>
          </p:cNvSpPr>
          <p:nvPr>
            <p:ph type="title"/>
          </p:nvPr>
        </p:nvSpPr>
        <p:spPr>
          <a:xfrm>
            <a:off x="609600" y="528414"/>
            <a:ext cx="10972800" cy="668338"/>
          </a:xfrm>
        </p:spPr>
        <p:txBody>
          <a:bodyPr/>
          <a:lstStyle/>
          <a:p>
            <a:r>
              <a:rPr lang="fr-FR" sz="3600" dirty="0" smtClean="0">
                <a:solidFill>
                  <a:srgbClr val="FF0000"/>
                </a:solidFill>
              </a:rPr>
              <a:t>Politique </a:t>
            </a:r>
            <a:r>
              <a:rPr lang="fr-FR" sz="3600" dirty="0">
                <a:solidFill>
                  <a:srgbClr val="FF0000"/>
                </a:solidFill>
              </a:rPr>
              <a:t>(π</a:t>
            </a:r>
            <a:r>
              <a:rPr lang="fr-FR" sz="3600" dirty="0" smtClean="0">
                <a:solidFill>
                  <a:srgbClr val="FF0000"/>
                </a:solidFill>
              </a:rPr>
              <a:t>) </a:t>
            </a:r>
            <a:r>
              <a:rPr lang="fr-FR" sz="3600" dirty="0" smtClean="0"/>
              <a:t>: définition</a:t>
            </a:r>
            <a:endParaRPr lang="fr-FR" altLang="fr-FR" sz="3600" dirty="0" smtClean="0"/>
          </a:p>
        </p:txBody>
      </p:sp>
      <p:sp>
        <p:nvSpPr>
          <p:cNvPr id="12291" name="Espace réservé du contenu 2"/>
          <p:cNvSpPr>
            <a:spLocks noGrp="1"/>
          </p:cNvSpPr>
          <p:nvPr>
            <p:ph idx="1"/>
          </p:nvPr>
        </p:nvSpPr>
        <p:spPr>
          <a:xfrm>
            <a:off x="609600" y="1631032"/>
            <a:ext cx="10972800" cy="3886200"/>
          </a:xfrm>
        </p:spPr>
        <p:txBody>
          <a:bodyPr/>
          <a:lstStyle/>
          <a:p>
            <a:r>
              <a:rPr lang="fr-FR" sz="2400" dirty="0" smtClean="0"/>
              <a:t>C’est </a:t>
            </a:r>
            <a:r>
              <a:rPr lang="fr-FR" sz="2400" dirty="0"/>
              <a:t>la </a:t>
            </a:r>
            <a:r>
              <a:rPr lang="fr-FR" sz="2400" b="1" dirty="0">
                <a:solidFill>
                  <a:srgbClr val="FF0000"/>
                </a:solidFill>
              </a:rPr>
              <a:t>stratégie de </a:t>
            </a:r>
            <a:r>
              <a:rPr lang="fr-FR" sz="2400" b="1" dirty="0" smtClean="0">
                <a:solidFill>
                  <a:srgbClr val="FF0000"/>
                </a:solidFill>
              </a:rPr>
              <a:t>l’agent</a:t>
            </a:r>
            <a:r>
              <a:rPr lang="fr-FR" sz="2400" dirty="0" smtClean="0"/>
              <a:t>. Elle </a:t>
            </a:r>
            <a:r>
              <a:rPr lang="fr-FR" sz="2400" dirty="0"/>
              <a:t>définit </a:t>
            </a:r>
            <a:r>
              <a:rPr lang="fr-FR" sz="2400" b="1" dirty="0"/>
              <a:t>comment l’agent choisit ses actions</a:t>
            </a:r>
            <a:r>
              <a:rPr lang="fr-FR" sz="2400" dirty="0"/>
              <a:t> dans chaque </a:t>
            </a:r>
            <a:r>
              <a:rPr lang="fr-FR" sz="2400" b="1" dirty="0" smtClean="0"/>
              <a:t>état</a:t>
            </a:r>
            <a:r>
              <a:rPr lang="fr-FR" sz="2400" dirty="0" smtClean="0"/>
              <a:t> </a:t>
            </a:r>
            <a:r>
              <a:rPr lang="fr-FR" sz="2400" dirty="0"/>
              <a:t>de l’environnement.</a:t>
            </a:r>
          </a:p>
          <a:p>
            <a:r>
              <a:rPr lang="fr-FR" sz="2400" dirty="0"/>
              <a:t>Autrement dit </a:t>
            </a:r>
            <a:r>
              <a:rPr lang="fr-FR" sz="2400" dirty="0" smtClean="0"/>
              <a:t>: </a:t>
            </a:r>
            <a:r>
              <a:rPr lang="fr-FR" sz="2400" b="1" dirty="0" smtClean="0"/>
              <a:t>π</a:t>
            </a:r>
            <a:r>
              <a:rPr lang="fr-FR" sz="2400" dirty="0" smtClean="0"/>
              <a:t> </a:t>
            </a:r>
            <a:r>
              <a:rPr lang="fr-FR" sz="2400" dirty="0"/>
              <a:t>dit à l’agent </a:t>
            </a:r>
            <a:r>
              <a:rPr lang="fr-FR" sz="2400" b="1" dirty="0">
                <a:solidFill>
                  <a:srgbClr val="FF0000"/>
                </a:solidFill>
              </a:rPr>
              <a:t>quoi faire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/>
              <a:t>quand il se trouve dans un certain </a:t>
            </a:r>
            <a:r>
              <a:rPr lang="fr-FR" sz="2400" b="1" dirty="0"/>
              <a:t>état</a:t>
            </a:r>
            <a:r>
              <a:rPr lang="fr-FR" sz="2400" dirty="0"/>
              <a:t>.</a:t>
            </a:r>
          </a:p>
          <a:p>
            <a:r>
              <a:rPr lang="fr-FR" sz="2400" b="1" dirty="0"/>
              <a:t>Exemple </a:t>
            </a:r>
            <a:r>
              <a:rPr lang="fr-FR" sz="2400" b="1" dirty="0" smtClean="0"/>
              <a:t>: </a:t>
            </a:r>
            <a:r>
              <a:rPr lang="fr-FR" sz="2400" dirty="0" smtClean="0"/>
              <a:t>Imaginons </a:t>
            </a:r>
            <a:r>
              <a:rPr lang="fr-FR" sz="2400" dirty="0"/>
              <a:t>un robot dans un labyrinthe :</a:t>
            </a:r>
          </a:p>
          <a:p>
            <a:pPr lvl="1"/>
            <a:r>
              <a:rPr lang="fr-FR" sz="1800" dirty="0"/>
              <a:t>Quand il est </a:t>
            </a:r>
            <a:r>
              <a:rPr lang="fr-FR" sz="1800" b="1" dirty="0"/>
              <a:t>devant un mur</a:t>
            </a:r>
            <a:r>
              <a:rPr lang="fr-FR" sz="1800" dirty="0"/>
              <a:t>, il choisit souvent de </a:t>
            </a:r>
            <a:r>
              <a:rPr lang="fr-FR" sz="1800" b="1" dirty="0"/>
              <a:t>tourner à gauche</a:t>
            </a:r>
            <a:r>
              <a:rPr lang="fr-FR" sz="1800" dirty="0"/>
              <a:t>.</a:t>
            </a:r>
          </a:p>
          <a:p>
            <a:pPr lvl="1"/>
            <a:r>
              <a:rPr lang="fr-FR" sz="1800" dirty="0"/>
              <a:t>Quand il est dans un </a:t>
            </a:r>
            <a:r>
              <a:rPr lang="fr-FR" sz="1800" b="1" dirty="0"/>
              <a:t>couloir libre</a:t>
            </a:r>
            <a:r>
              <a:rPr lang="fr-FR" sz="1800" dirty="0"/>
              <a:t>, il avance </a:t>
            </a:r>
            <a:r>
              <a:rPr lang="fr-FR" sz="1800" b="1" dirty="0"/>
              <a:t>tout droit</a:t>
            </a:r>
            <a:r>
              <a:rPr lang="fr-FR" sz="1800" dirty="0"/>
              <a:t>.</a:t>
            </a:r>
          </a:p>
          <a:p>
            <a:pPr lvl="1"/>
            <a:r>
              <a:rPr lang="fr-FR" sz="1800" dirty="0"/>
              <a:t>Quand il est proche de la </a:t>
            </a:r>
            <a:r>
              <a:rPr lang="fr-FR" sz="1800" b="1" dirty="0"/>
              <a:t>sortie</a:t>
            </a:r>
            <a:r>
              <a:rPr lang="fr-FR" sz="1800" dirty="0"/>
              <a:t>, il accélère.</a:t>
            </a:r>
          </a:p>
          <a:p>
            <a:r>
              <a:rPr lang="fr-FR" sz="2400" dirty="0" smtClean="0"/>
              <a:t>Ces </a:t>
            </a:r>
            <a:r>
              <a:rPr lang="fr-FR" sz="2400" b="1" dirty="0"/>
              <a:t>règles de comportement</a:t>
            </a:r>
            <a:r>
              <a:rPr lang="fr-FR" sz="2400" dirty="0"/>
              <a:t> constituent </a:t>
            </a:r>
            <a:r>
              <a:rPr lang="fr-FR" sz="2400" b="1" dirty="0"/>
              <a:t>la politique π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12292" name="Espace réservé du pied de page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fr-FR" altLang="fr-FR" sz="1200" smtClean="0"/>
          </a:p>
        </p:txBody>
      </p:sp>
      <p:sp>
        <p:nvSpPr>
          <p:cNvPr id="12293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B5C1F4E-F3A7-4687-922D-25382A2B2363}" type="slidenum">
              <a:rPr lang="fr-FR" altLang="fr-FR" sz="1200" smtClean="0">
                <a:latin typeface="Arial Black" panose="020B0A04020102020204" pitchFamily="34" charset="0"/>
              </a:rPr>
              <a:pPr/>
              <a:t>6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638771"/>
            <a:ext cx="10972800" cy="4454525"/>
          </a:xfrm>
        </p:spPr>
        <p:txBody>
          <a:bodyPr/>
          <a:lstStyle/>
          <a:p>
            <a:pPr>
              <a:defRPr/>
            </a:pPr>
            <a:r>
              <a:rPr lang="fr-FR" sz="2400" b="1" dirty="0" smtClean="0"/>
              <a:t>Politique </a:t>
            </a:r>
            <a:r>
              <a:rPr lang="fr-FR" sz="2400" b="1" dirty="0"/>
              <a:t>déterministe :</a:t>
            </a:r>
          </a:p>
          <a:p>
            <a:pPr lvl="1">
              <a:defRPr/>
            </a:pPr>
            <a:r>
              <a:rPr lang="fr-FR" sz="2000" dirty="0" smtClean="0"/>
              <a:t>L’action </a:t>
            </a:r>
            <a:r>
              <a:rPr lang="fr-FR" sz="2000" dirty="0"/>
              <a:t>est fixe pour chaque état </a:t>
            </a:r>
            <a:r>
              <a:rPr lang="fr-FR" sz="2000" dirty="0" smtClean="0"/>
              <a:t>: π(s</a:t>
            </a:r>
            <a:r>
              <a:rPr lang="fr-FR" sz="2000" dirty="0"/>
              <a:t>)=a</a:t>
            </a:r>
          </a:p>
          <a:p>
            <a:pPr lvl="1">
              <a:defRPr/>
            </a:pPr>
            <a:r>
              <a:rPr lang="fr-FR" sz="2000" dirty="0" smtClean="0"/>
              <a:t>Cela </a:t>
            </a:r>
            <a:r>
              <a:rPr lang="fr-FR" sz="2000" dirty="0"/>
              <a:t>signifie </a:t>
            </a:r>
            <a:r>
              <a:rPr lang="fr-FR" sz="2000" dirty="0" smtClean="0"/>
              <a:t>: « </a:t>
            </a:r>
            <a:r>
              <a:rPr lang="fr-FR" sz="2000" dirty="0"/>
              <a:t>Si je suis dans l’état s, je choisis toujours l’action a. »</a:t>
            </a:r>
          </a:p>
          <a:p>
            <a:pPr lvl="1">
              <a:defRPr/>
            </a:pPr>
            <a:r>
              <a:rPr lang="fr-FR" sz="2000" b="1" dirty="0" smtClean="0"/>
              <a:t>Exemple</a:t>
            </a:r>
            <a:r>
              <a:rPr lang="fr-FR" sz="2000" dirty="0" smtClean="0"/>
              <a:t> : Si </a:t>
            </a:r>
            <a:r>
              <a:rPr lang="fr-FR" sz="2000" dirty="0"/>
              <a:t>le robot voit un mur </a:t>
            </a:r>
            <a:r>
              <a:rPr lang="fr-FR" sz="2000" dirty="0" smtClean="0"/>
              <a:t>alors il </a:t>
            </a:r>
            <a:r>
              <a:rPr lang="fr-FR" sz="2000" dirty="0"/>
              <a:t>tourne à gauche, toujours</a:t>
            </a:r>
            <a:r>
              <a:rPr lang="fr-FR" sz="2000" dirty="0" smtClean="0"/>
              <a:t>.</a:t>
            </a:r>
          </a:p>
          <a:p>
            <a:pPr>
              <a:defRPr/>
            </a:pPr>
            <a:r>
              <a:rPr lang="fr-FR" sz="2400" b="1" dirty="0"/>
              <a:t>Politique stochastique :</a:t>
            </a:r>
          </a:p>
          <a:p>
            <a:pPr lvl="1">
              <a:defRPr/>
            </a:pPr>
            <a:r>
              <a:rPr lang="fr-FR" sz="2000" dirty="0" smtClean="0"/>
              <a:t>L’action </a:t>
            </a:r>
            <a:r>
              <a:rPr lang="fr-FR" sz="2000" dirty="0"/>
              <a:t>est probabiliste </a:t>
            </a:r>
            <a:r>
              <a:rPr lang="fr-FR" sz="2000" dirty="0" smtClean="0"/>
              <a:t>: π(</a:t>
            </a:r>
            <a:r>
              <a:rPr lang="fr-FR" sz="2000" dirty="0" err="1" smtClean="0"/>
              <a:t>a</a:t>
            </a:r>
            <a:r>
              <a:rPr lang="fr-FR" sz="2000" dirty="0" err="1"/>
              <a:t>∣s</a:t>
            </a:r>
            <a:r>
              <a:rPr lang="fr-FR" sz="2000" dirty="0"/>
              <a:t>)=P(choisir l’action </a:t>
            </a:r>
            <a:r>
              <a:rPr lang="fr-FR" sz="2000" dirty="0" err="1"/>
              <a:t>a</a:t>
            </a:r>
            <a:r>
              <a:rPr lang="fr-FR" sz="2000" dirty="0" err="1" smtClean="0"/>
              <a:t>∣</a:t>
            </a:r>
            <a:r>
              <a:rPr lang="fr-FR" sz="2000" dirty="0" err="1"/>
              <a:t>é</a:t>
            </a:r>
            <a:r>
              <a:rPr lang="fr-FR" sz="2000" dirty="0" err="1" smtClean="0"/>
              <a:t>tat</a:t>
            </a:r>
            <a:r>
              <a:rPr lang="fr-FR" sz="2000" dirty="0" smtClean="0"/>
              <a:t> </a:t>
            </a:r>
            <a:r>
              <a:rPr lang="fr-FR" sz="2000" dirty="0"/>
              <a:t>s)</a:t>
            </a:r>
          </a:p>
          <a:p>
            <a:pPr lvl="1">
              <a:defRPr/>
            </a:pPr>
            <a:r>
              <a:rPr lang="fr-FR" sz="2000" dirty="0" smtClean="0"/>
              <a:t>Cela </a:t>
            </a:r>
            <a:r>
              <a:rPr lang="fr-FR" sz="2000" dirty="0"/>
              <a:t>signifie </a:t>
            </a:r>
            <a:r>
              <a:rPr lang="fr-FR" sz="2000" dirty="0" smtClean="0"/>
              <a:t>: « </a:t>
            </a:r>
            <a:r>
              <a:rPr lang="fr-FR" sz="2000" dirty="0"/>
              <a:t>Dans cet état, j’ai une certaine probabilité de choisir chaque action. »</a:t>
            </a:r>
          </a:p>
          <a:p>
            <a:pPr lvl="1">
              <a:defRPr/>
            </a:pPr>
            <a:r>
              <a:rPr lang="fr-FR" sz="2000" b="1" dirty="0" smtClean="0"/>
              <a:t>Exemple </a:t>
            </a:r>
            <a:r>
              <a:rPr lang="fr-FR" sz="2000" b="1" dirty="0"/>
              <a:t>:</a:t>
            </a:r>
          </a:p>
          <a:p>
            <a:pPr lvl="2">
              <a:defRPr/>
            </a:pPr>
            <a:r>
              <a:rPr lang="fr-FR" sz="1800" dirty="0"/>
              <a:t>Si le robot est face à un mur :</a:t>
            </a:r>
          </a:p>
          <a:p>
            <a:pPr lvl="2">
              <a:defRPr/>
            </a:pPr>
            <a:r>
              <a:rPr lang="fr-FR" sz="1800" dirty="0" smtClean="0"/>
              <a:t>80 </a:t>
            </a:r>
            <a:r>
              <a:rPr lang="fr-FR" sz="1800" dirty="0"/>
              <a:t>% de chances de tourner à gauche</a:t>
            </a:r>
          </a:p>
          <a:p>
            <a:pPr lvl="2">
              <a:defRPr/>
            </a:pPr>
            <a:r>
              <a:rPr lang="fr-FR" sz="1800" dirty="0" smtClean="0"/>
              <a:t>20 </a:t>
            </a:r>
            <a:r>
              <a:rPr lang="fr-FR" sz="1800" dirty="0"/>
              <a:t>% de chances </a:t>
            </a:r>
            <a:r>
              <a:rPr lang="fr-FR" sz="1600" dirty="0"/>
              <a:t>de tourner à droite</a:t>
            </a:r>
            <a:endParaRPr lang="fr-FR" sz="1600" dirty="0" smtClean="0"/>
          </a:p>
        </p:txBody>
      </p:sp>
      <p:sp>
        <p:nvSpPr>
          <p:cNvPr id="1331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919586F-122F-4584-AD34-CCFB706B1E9D}" type="slidenum">
              <a:rPr lang="fr-FR" altLang="fr-FR" sz="1200" smtClean="0">
                <a:latin typeface="Arial Black" panose="020B0A04020102020204" pitchFamily="34" charset="0"/>
              </a:rPr>
              <a:pPr/>
              <a:t>7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  <p:sp>
        <p:nvSpPr>
          <p:cNvPr id="1331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8338"/>
          </a:xfrm>
        </p:spPr>
        <p:txBody>
          <a:bodyPr/>
          <a:lstStyle/>
          <a:p>
            <a:r>
              <a:rPr lang="fr-FR" sz="3600" dirty="0" smtClean="0">
                <a:solidFill>
                  <a:srgbClr val="FF0000"/>
                </a:solidFill>
              </a:rPr>
              <a:t>Politique </a:t>
            </a:r>
            <a:r>
              <a:rPr lang="fr-FR" sz="3600" dirty="0">
                <a:solidFill>
                  <a:srgbClr val="FF0000"/>
                </a:solidFill>
              </a:rPr>
              <a:t>(π)</a:t>
            </a:r>
            <a:r>
              <a:rPr lang="fr-FR" sz="3600" dirty="0"/>
              <a:t> : </a:t>
            </a:r>
            <a:r>
              <a:rPr lang="fr-FR" sz="3600" dirty="0" smtClean="0"/>
              <a:t>définition</a:t>
            </a:r>
            <a:endParaRPr lang="fr-FR" altLang="fr-FR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1438"/>
            <a:ext cx="10526960" cy="4525962"/>
          </a:xfrm>
        </p:spPr>
        <p:txBody>
          <a:bodyPr/>
          <a:lstStyle/>
          <a:p>
            <a:r>
              <a:rPr lang="fr-FR" sz="2400" dirty="0" smtClean="0">
                <a:solidFill>
                  <a:srgbClr val="FF0000"/>
                </a:solidFill>
              </a:rPr>
              <a:t>Cycle d’interaction </a:t>
            </a:r>
            <a:r>
              <a:rPr lang="fr-FR" sz="2400" dirty="0" smtClean="0"/>
              <a:t>: chaque </a:t>
            </a:r>
            <a:r>
              <a:rPr lang="fr-FR" sz="2400" dirty="0"/>
              <a:t>fois que l’agent est dans un état </a:t>
            </a:r>
            <a:r>
              <a:rPr lang="fr-FR" sz="2400" dirty="0" smtClean="0"/>
              <a:t>s</a:t>
            </a:r>
            <a:r>
              <a:rPr lang="fr-FR" sz="2400" baseline="-25000" dirty="0" smtClean="0"/>
              <a:t>t</a:t>
            </a:r>
            <a:r>
              <a:rPr lang="fr-FR" sz="2400" dirty="0" smtClean="0"/>
              <a:t>:</a:t>
            </a:r>
            <a:endParaRPr lang="fr-FR" sz="2400" dirty="0"/>
          </a:p>
          <a:p>
            <a:pPr lvl="1"/>
            <a:r>
              <a:rPr lang="fr-FR" sz="2000" dirty="0"/>
              <a:t>Il choisit une action </a:t>
            </a:r>
            <a:r>
              <a:rPr lang="fr-FR" sz="2000" dirty="0" smtClean="0"/>
              <a:t>a</a:t>
            </a:r>
            <a:r>
              <a:rPr lang="fr-FR" sz="2000" baseline="-25000" dirty="0" smtClean="0"/>
              <a:t>t​ </a:t>
            </a:r>
            <a:r>
              <a:rPr lang="fr-FR" sz="2000" dirty="0"/>
              <a:t>selon la </a:t>
            </a:r>
            <a:r>
              <a:rPr lang="fr-FR" sz="2000" b="1" dirty="0"/>
              <a:t>politique π</a:t>
            </a:r>
            <a:r>
              <a:rPr lang="fr-FR" sz="2000" dirty="0"/>
              <a:t>.</a:t>
            </a:r>
          </a:p>
          <a:p>
            <a:pPr lvl="1"/>
            <a:r>
              <a:rPr lang="fr-FR" sz="2000" dirty="0"/>
              <a:t>Il reçoit une récompense </a:t>
            </a:r>
            <a:r>
              <a:rPr lang="fr-FR" sz="2000" dirty="0" smtClean="0"/>
              <a:t>r</a:t>
            </a:r>
            <a:r>
              <a:rPr lang="fr-FR" sz="2000" baseline="-25000" dirty="0" smtClean="0"/>
              <a:t>t+1</a:t>
            </a:r>
            <a:r>
              <a:rPr lang="fr-FR" sz="2000" dirty="0" smtClean="0"/>
              <a:t>​</a:t>
            </a:r>
            <a:r>
              <a:rPr lang="fr-FR" sz="2000" dirty="0"/>
              <a:t>.</a:t>
            </a:r>
          </a:p>
          <a:p>
            <a:pPr lvl="1"/>
            <a:r>
              <a:rPr lang="fr-FR" sz="2000" dirty="0"/>
              <a:t>Il passe à un nouvel état </a:t>
            </a:r>
            <a:r>
              <a:rPr lang="fr-FR" sz="2000" dirty="0" smtClean="0"/>
              <a:t>s</a:t>
            </a:r>
            <a:r>
              <a:rPr lang="fr-FR" sz="2000" baseline="-25000" dirty="0" smtClean="0"/>
              <a:t>t+1</a:t>
            </a:r>
            <a:r>
              <a:rPr lang="fr-FR" sz="2000" dirty="0" smtClean="0"/>
              <a:t>​</a:t>
            </a:r>
            <a:r>
              <a:rPr lang="fr-FR" sz="2000" dirty="0"/>
              <a:t>.</a:t>
            </a:r>
          </a:p>
          <a:p>
            <a:pPr lvl="1"/>
            <a:r>
              <a:rPr lang="fr-FR" sz="2000" dirty="0"/>
              <a:t>Il met à jour sa politique pour </a:t>
            </a:r>
            <a:r>
              <a:rPr lang="fr-FR" sz="2000" b="1" dirty="0"/>
              <a:t>améliorer ses décisions</a:t>
            </a:r>
            <a:r>
              <a:rPr lang="fr-FR" sz="2000" dirty="0"/>
              <a:t> futures</a:t>
            </a:r>
            <a:r>
              <a:rPr lang="fr-FR" sz="2000" dirty="0" smtClean="0"/>
              <a:t>.</a:t>
            </a:r>
          </a:p>
          <a:p>
            <a:pPr lvl="1"/>
            <a:endParaRPr lang="fr-FR" sz="2000" dirty="0" smtClean="0"/>
          </a:p>
          <a:p>
            <a:r>
              <a:rPr lang="fr-FR" sz="2400" dirty="0">
                <a:solidFill>
                  <a:srgbClr val="FF0000"/>
                </a:solidFill>
              </a:rPr>
              <a:t>P</a:t>
            </a:r>
            <a:r>
              <a:rPr lang="fr-FR" sz="2400" dirty="0" smtClean="0">
                <a:solidFill>
                  <a:srgbClr val="FF0000"/>
                </a:solidFill>
              </a:rPr>
              <a:t>olitique </a:t>
            </a:r>
            <a:r>
              <a:rPr lang="fr-FR" sz="2400" dirty="0">
                <a:solidFill>
                  <a:srgbClr val="FF0000"/>
                </a:solidFill>
              </a:rPr>
              <a:t>optimale π</a:t>
            </a:r>
            <a:r>
              <a:rPr lang="fr-FR" sz="2400" dirty="0" smtClean="0">
                <a:solidFill>
                  <a:srgbClr val="FF0000"/>
                </a:solidFill>
              </a:rPr>
              <a:t>*</a:t>
            </a:r>
            <a:endParaRPr lang="fr-FR" sz="2400" dirty="0">
              <a:solidFill>
                <a:srgbClr val="FF0000"/>
              </a:solidFill>
            </a:endParaRPr>
          </a:p>
          <a:p>
            <a:pPr lvl="1"/>
            <a:r>
              <a:rPr lang="fr-FR" sz="2000" dirty="0" smtClean="0"/>
              <a:t>L’objectif </a:t>
            </a:r>
            <a:r>
              <a:rPr lang="fr-FR" sz="2000" dirty="0"/>
              <a:t>du RL est d’apprendre la </a:t>
            </a:r>
            <a:r>
              <a:rPr lang="fr-FR" sz="2000" dirty="0">
                <a:solidFill>
                  <a:srgbClr val="FF0000"/>
                </a:solidFill>
              </a:rPr>
              <a:t>meilleure politique </a:t>
            </a:r>
            <a:r>
              <a:rPr lang="fr-FR" sz="2000" dirty="0"/>
              <a:t>possible, appelée :</a:t>
            </a:r>
          </a:p>
          <a:p>
            <a:pPr marL="400050" lvl="1" indent="0" algn="ctr">
              <a:buNone/>
            </a:pPr>
            <a:r>
              <a:rPr lang="fr-FR" sz="2000" b="1" dirty="0" smtClean="0">
                <a:solidFill>
                  <a:srgbClr val="FF0000"/>
                </a:solidFill>
              </a:rPr>
              <a:t>π* </a:t>
            </a:r>
            <a:r>
              <a:rPr lang="fr-FR" sz="2000" b="1" dirty="0" smtClean="0"/>
              <a:t>= politique </a:t>
            </a:r>
            <a:r>
              <a:rPr lang="fr-FR" sz="2000" b="1" dirty="0"/>
              <a:t>qui maximise la </a:t>
            </a:r>
            <a:r>
              <a:rPr lang="fr-FR" sz="2000" b="1" dirty="0" smtClean="0"/>
              <a:t>récompense cumulée </a:t>
            </a:r>
            <a:r>
              <a:rPr lang="fr-FR" sz="2000" b="1" dirty="0"/>
              <a:t>attendue.</a:t>
            </a:r>
          </a:p>
          <a:p>
            <a:pPr lvl="1"/>
            <a:r>
              <a:rPr lang="fr-FR" sz="2000" dirty="0" smtClean="0"/>
              <a:t>Autrement </a:t>
            </a:r>
            <a:r>
              <a:rPr lang="fr-FR" sz="2000" dirty="0"/>
              <a:t>dit </a:t>
            </a:r>
            <a:r>
              <a:rPr lang="fr-FR" sz="2000" dirty="0" smtClean="0"/>
              <a:t>: C’est </a:t>
            </a:r>
            <a:r>
              <a:rPr lang="fr-FR" sz="2000" dirty="0"/>
              <a:t>la </a:t>
            </a:r>
            <a:r>
              <a:rPr lang="fr-FR" sz="2000" b="1" dirty="0">
                <a:solidFill>
                  <a:srgbClr val="FF0000"/>
                </a:solidFill>
              </a:rPr>
              <a:t>stratégie</a:t>
            </a:r>
            <a:r>
              <a:rPr lang="fr-FR" sz="2000" dirty="0"/>
              <a:t> qui permet à l’agent d’obtenir le plus de récompenses possibles sur le long terme.</a:t>
            </a:r>
          </a:p>
        </p:txBody>
      </p:sp>
      <p:sp>
        <p:nvSpPr>
          <p:cNvPr id="14340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FD42785-7398-454C-B9D3-D424E840CF92}" type="slidenum">
              <a:rPr lang="fr-FR" altLang="fr-FR" sz="1200" smtClean="0">
                <a:latin typeface="Arial Black" panose="020B0A04020102020204" pitchFamily="34" charset="0"/>
              </a:rPr>
              <a:pPr/>
              <a:t>8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  <p:sp>
        <p:nvSpPr>
          <p:cNvPr id="14341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8338"/>
          </a:xfrm>
        </p:spPr>
        <p:txBody>
          <a:bodyPr/>
          <a:lstStyle/>
          <a:p>
            <a:r>
              <a:rPr lang="fr-FR" sz="4000" dirty="0">
                <a:solidFill>
                  <a:srgbClr val="FF0000"/>
                </a:solidFill>
              </a:rPr>
              <a:t>Politique (π)</a:t>
            </a:r>
            <a:r>
              <a:rPr lang="fr-FR" sz="4000" dirty="0"/>
              <a:t> : définition</a:t>
            </a:r>
            <a:endParaRPr lang="fr-FR" altLang="fr-FR" sz="4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972800" cy="4383087"/>
          </a:xfrm>
        </p:spPr>
        <p:txBody>
          <a:bodyPr/>
          <a:lstStyle/>
          <a:p>
            <a:r>
              <a:rPr lang="fr-FR" sz="2000" dirty="0"/>
              <a:t>Il existe plusieurs familles de méthodes :</a:t>
            </a:r>
            <a:endParaRPr lang="fr-FR" altLang="fr-FR" sz="2000" dirty="0" smtClean="0"/>
          </a:p>
        </p:txBody>
      </p:sp>
      <p:sp>
        <p:nvSpPr>
          <p:cNvPr id="15364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F2461AB-5878-488D-A4D5-ED769D99D1CE}" type="slidenum">
              <a:rPr lang="fr-FR" altLang="fr-FR" sz="1200" smtClean="0">
                <a:latin typeface="Arial Black" panose="020B0A04020102020204" pitchFamily="34" charset="0"/>
              </a:rPr>
              <a:pPr/>
              <a:t>9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  <p:sp>
        <p:nvSpPr>
          <p:cNvPr id="15365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8338"/>
          </a:xfrm>
        </p:spPr>
        <p:txBody>
          <a:bodyPr/>
          <a:lstStyle/>
          <a:p>
            <a:r>
              <a:rPr lang="fr-FR" sz="3600" dirty="0"/>
              <a:t>Comment on apprend π</a:t>
            </a:r>
            <a:r>
              <a:rPr lang="fr-FR" sz="3600" dirty="0" smtClean="0"/>
              <a:t>*?</a:t>
            </a:r>
            <a:endParaRPr lang="fr-FR" sz="3600" dirty="0"/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65767"/>
              </p:ext>
            </p:extLst>
          </p:nvPr>
        </p:nvGraphicFramePr>
        <p:xfrm>
          <a:off x="609600" y="1772816"/>
          <a:ext cx="10972800" cy="173736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686200">
                  <a:extLst>
                    <a:ext uri="{9D8B030D-6E8A-4147-A177-3AD203B41FA5}">
                      <a16:colId xmlns:a16="http://schemas.microsoft.com/office/drawing/2014/main" val="2025325803"/>
                    </a:ext>
                  </a:extLst>
                </a:gridCol>
                <a:gridCol w="7286600">
                  <a:extLst>
                    <a:ext uri="{9D8B030D-6E8A-4147-A177-3AD203B41FA5}">
                      <a16:colId xmlns:a16="http://schemas.microsoft.com/office/drawing/2014/main" val="2307026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 dirty="0"/>
                        <a:t>Méthode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Idée principale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8691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/>
                        <a:t>Value-</a:t>
                      </a:r>
                      <a:r>
                        <a:rPr lang="fr-FR" dirty="0" err="1"/>
                        <a:t>based</a:t>
                      </a:r>
                      <a:r>
                        <a:rPr lang="fr-FR" dirty="0"/>
                        <a:t> (ex. </a:t>
                      </a:r>
                      <a:r>
                        <a:rPr lang="fr-FR" dirty="0" err="1"/>
                        <a:t>Q-learning</a:t>
                      </a:r>
                      <a:r>
                        <a:rPr lang="fr-FR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On apprend la valeur de chaque action, puis on en déduit la politique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9142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Policy-based (ex. Policy Gradient)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On apprend directement la politique (les probabilités d’action)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81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Actor-Critic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Mélange des deux approches : un « acteur » (la politique) et un « critique » (la valeur)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523968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609600" y="3717032"/>
            <a:ext cx="6966972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 smtClean="0"/>
              <a:t>Exemple :</a:t>
            </a:r>
          </a:p>
          <a:p>
            <a:r>
              <a:rPr lang="fr-FR" sz="2000" dirty="0"/>
              <a:t>Supposons que l’agent soit dans un environnement simple :</a:t>
            </a:r>
            <a:br>
              <a:rPr lang="fr-FR" sz="2000" dirty="0"/>
            </a:br>
            <a:r>
              <a:rPr lang="fr-FR" sz="2000" dirty="0"/>
              <a:t>il peut </a:t>
            </a:r>
            <a:r>
              <a:rPr lang="fr-FR" sz="2000" b="1" dirty="0">
                <a:solidFill>
                  <a:srgbClr val="FF0000"/>
                </a:solidFill>
              </a:rPr>
              <a:t>Aller à gauche (G)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  <a:r>
              <a:rPr lang="fr-FR" sz="2000" dirty="0"/>
              <a:t>ou </a:t>
            </a:r>
            <a:r>
              <a:rPr lang="fr-FR" sz="2000" b="1" dirty="0">
                <a:solidFill>
                  <a:srgbClr val="FF0000"/>
                </a:solidFill>
              </a:rPr>
              <a:t>à droite (D)</a:t>
            </a:r>
            <a:r>
              <a:rPr lang="fr-FR" sz="2000" dirty="0">
                <a:solidFill>
                  <a:srgbClr val="FF0000"/>
                </a:solidFill>
              </a:rPr>
              <a:t>.</a:t>
            </a:r>
            <a:r>
              <a:rPr lang="fr-FR" sz="2000" b="1" dirty="0" smtClean="0">
                <a:solidFill>
                  <a:srgbClr val="FF0000"/>
                </a:solidFill>
              </a:rPr>
              <a:t> </a:t>
            </a:r>
            <a:endParaRPr lang="fr-FR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156650"/>
              </p:ext>
            </p:extLst>
          </p:nvPr>
        </p:nvGraphicFramePr>
        <p:xfrm>
          <a:off x="609600" y="4797152"/>
          <a:ext cx="10972800" cy="10972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4544588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50150670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57588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234431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 dirty="0"/>
                        <a:t>État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Récompense si G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Récompense si D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b="1" dirty="0"/>
                        <a:t>Politique </a:t>
                      </a:r>
                      <a:r>
                        <a:rPr lang="el-GR" b="1" dirty="0"/>
                        <a:t>π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29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+1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/>
                        <a:t>π(</a:t>
                      </a:r>
                      <a:r>
                        <a:rPr lang="fr-FR"/>
                        <a:t>s₁) = 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3839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+2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π(</a:t>
                      </a:r>
                      <a:r>
                        <a:rPr lang="fr-FR" dirty="0"/>
                        <a:t>s₂) =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1252121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09600" y="6093296"/>
            <a:ext cx="34050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dirty="0"/>
              <a:t>La politique optimale ici est :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10" y="5961275"/>
            <a:ext cx="3319162" cy="5742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3600" dirty="0"/>
              <a:t>Pourquoi évaluer une politique ?</a:t>
            </a:r>
            <a:endParaRPr lang="fr-FR" altLang="fr-FR" sz="3600" b="1" dirty="0" smtClean="0"/>
          </a:p>
        </p:txBody>
      </p:sp>
      <p:sp>
        <p:nvSpPr>
          <p:cNvPr id="16387" name="Espace réservé du contenu 2"/>
          <p:cNvSpPr>
            <a:spLocks noGrp="1"/>
          </p:cNvSpPr>
          <p:nvPr>
            <p:ph idx="1"/>
          </p:nvPr>
        </p:nvSpPr>
        <p:spPr>
          <a:xfrm>
            <a:off x="609600" y="1782688"/>
            <a:ext cx="10972800" cy="4382616"/>
          </a:xfrm>
        </p:spPr>
        <p:txBody>
          <a:bodyPr/>
          <a:lstStyle/>
          <a:p>
            <a:r>
              <a:rPr lang="fr-FR" sz="2400" dirty="0"/>
              <a:t>Avant de chercher la meilleure stratégie (π*), il faut d’abord savoir si une politique donnée est bonne ou non</a:t>
            </a:r>
            <a:r>
              <a:rPr lang="fr-FR" sz="2400" dirty="0" smtClean="0"/>
              <a:t>.</a:t>
            </a:r>
          </a:p>
          <a:p>
            <a:endParaRPr lang="fr-FR" sz="1000" dirty="0"/>
          </a:p>
          <a:p>
            <a:r>
              <a:rPr lang="fr-FR" sz="2400" dirty="0" smtClean="0"/>
              <a:t>Évaluer </a:t>
            </a:r>
            <a:r>
              <a:rPr lang="fr-FR" sz="2400" dirty="0"/>
              <a:t>une politique, c’est mesurer </a:t>
            </a:r>
            <a:r>
              <a:rPr lang="fr-FR" sz="2400" dirty="0">
                <a:solidFill>
                  <a:srgbClr val="FF0000"/>
                </a:solidFill>
              </a:rPr>
              <a:t>combien de récompenses </a:t>
            </a:r>
            <a:r>
              <a:rPr lang="fr-FR" sz="2400" dirty="0"/>
              <a:t>elle rapporte en </a:t>
            </a:r>
            <a:r>
              <a:rPr lang="fr-FR" sz="2400" dirty="0">
                <a:solidFill>
                  <a:srgbClr val="FF0000"/>
                </a:solidFill>
              </a:rPr>
              <a:t>moyenne</a:t>
            </a:r>
            <a:r>
              <a:rPr lang="fr-FR" sz="2400" dirty="0"/>
              <a:t> à long terme</a:t>
            </a:r>
            <a:r>
              <a:rPr lang="fr-FR" sz="2400" dirty="0" smtClean="0"/>
              <a:t>.</a:t>
            </a:r>
          </a:p>
          <a:p>
            <a:endParaRPr lang="fr-FR" sz="1000" dirty="0"/>
          </a:p>
          <a:p>
            <a:r>
              <a:rPr lang="fr-FR" sz="2400" dirty="0" smtClean="0"/>
              <a:t>On </a:t>
            </a:r>
            <a:r>
              <a:rPr lang="fr-FR" sz="2400" dirty="0"/>
              <a:t>le fait grâce à deux fonctions fondamentales </a:t>
            </a:r>
            <a:r>
              <a:rPr lang="fr-FR" sz="2400" dirty="0" smtClean="0"/>
              <a:t>:</a:t>
            </a:r>
          </a:p>
          <a:p>
            <a:pPr lvl="1"/>
            <a:r>
              <a:rPr lang="fr-FR" sz="2000" b="1" dirty="0"/>
              <a:t>La fonction de valeur d’état </a:t>
            </a:r>
            <a:r>
              <a:rPr lang="fr-FR" sz="2000" b="1" dirty="0" smtClean="0">
                <a:solidFill>
                  <a:srgbClr val="FF0000"/>
                </a:solidFill>
              </a:rPr>
              <a:t>V</a:t>
            </a:r>
            <a:r>
              <a:rPr lang="fr-FR" sz="2000" b="1" baseline="30000" dirty="0" smtClean="0">
                <a:solidFill>
                  <a:srgbClr val="FF0000"/>
                </a:solidFill>
              </a:rPr>
              <a:t>π</a:t>
            </a:r>
            <a:r>
              <a:rPr lang="fr-FR" sz="2000" b="1" dirty="0" smtClean="0">
                <a:solidFill>
                  <a:srgbClr val="FF0000"/>
                </a:solidFill>
              </a:rPr>
              <a:t>(s)</a:t>
            </a:r>
            <a:endParaRPr lang="fr-FR" sz="2000" b="1" dirty="0">
              <a:solidFill>
                <a:srgbClr val="FF0000"/>
              </a:solidFill>
            </a:endParaRPr>
          </a:p>
          <a:p>
            <a:pPr lvl="1"/>
            <a:r>
              <a:rPr lang="fr-FR" sz="2000" b="1" dirty="0"/>
              <a:t>La fonction de valeur d’action </a:t>
            </a:r>
            <a:r>
              <a:rPr lang="fr-FR" sz="2000" b="1" dirty="0" smtClean="0">
                <a:solidFill>
                  <a:srgbClr val="FF0000"/>
                </a:solidFill>
              </a:rPr>
              <a:t>Q</a:t>
            </a:r>
            <a:r>
              <a:rPr lang="fr-FR" sz="2000" b="1" baseline="30000" dirty="0" smtClean="0">
                <a:solidFill>
                  <a:srgbClr val="FF0000"/>
                </a:solidFill>
              </a:rPr>
              <a:t>π</a:t>
            </a:r>
            <a:r>
              <a:rPr lang="fr-FR" sz="2000" b="1" dirty="0" smtClean="0">
                <a:solidFill>
                  <a:srgbClr val="FF0000"/>
                </a:solidFill>
              </a:rPr>
              <a:t>(</a:t>
            </a:r>
            <a:r>
              <a:rPr lang="fr-FR" sz="2000" b="1" dirty="0" err="1" smtClean="0">
                <a:solidFill>
                  <a:srgbClr val="FF0000"/>
                </a:solidFill>
              </a:rPr>
              <a:t>s,a</a:t>
            </a:r>
            <a:r>
              <a:rPr lang="fr-FR" sz="2000" b="1" dirty="0" smtClean="0">
                <a:solidFill>
                  <a:srgbClr val="FF0000"/>
                </a:solidFill>
              </a:rPr>
              <a:t>)</a:t>
            </a:r>
          </a:p>
          <a:p>
            <a:endParaRPr lang="fr-FR" sz="2200" dirty="0"/>
          </a:p>
        </p:txBody>
      </p:sp>
      <p:sp>
        <p:nvSpPr>
          <p:cNvPr id="16388" name="Espace réservé du pied de page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fr-FR" altLang="fr-FR" sz="1200" smtClean="0"/>
          </a:p>
        </p:txBody>
      </p:sp>
      <p:sp>
        <p:nvSpPr>
          <p:cNvPr id="16389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431AD28-C9AB-4628-8066-2E40AED4A31D}" type="slidenum">
              <a:rPr lang="fr-FR" altLang="fr-FR" sz="1200" smtClean="0">
                <a:latin typeface="Arial Black" panose="020B0A04020102020204" pitchFamily="34" charset="0"/>
              </a:rPr>
              <a:pPr/>
              <a:t>10</a:t>
            </a:fld>
            <a:endParaRPr lang="fr-FR" altLang="fr-FR" sz="1200" smtClean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re 1"/>
          <p:cNvSpPr>
            <a:spLocks noGrp="1"/>
          </p:cNvSpPr>
          <p:nvPr>
            <p:ph type="title"/>
          </p:nvPr>
        </p:nvSpPr>
        <p:spPr>
          <a:xfrm>
            <a:off x="450448" y="457200"/>
            <a:ext cx="11751096" cy="811560"/>
          </a:xfrm>
        </p:spPr>
        <p:txBody>
          <a:bodyPr/>
          <a:lstStyle/>
          <a:p>
            <a:r>
              <a:rPr lang="fr-FR" sz="3600" dirty="0" smtClean="0"/>
              <a:t>Fonction </a:t>
            </a:r>
            <a:r>
              <a:rPr lang="fr-FR" sz="3600" dirty="0"/>
              <a:t>de valeur d’un </a:t>
            </a:r>
            <a:r>
              <a:rPr lang="fr-FR" sz="3600" dirty="0" smtClean="0"/>
              <a:t>état : </a:t>
            </a:r>
            <a:r>
              <a:rPr lang="fr-FR" sz="3600" dirty="0">
                <a:solidFill>
                  <a:srgbClr val="FF0000"/>
                </a:solidFill>
              </a:rPr>
              <a:t>V</a:t>
            </a:r>
            <a:r>
              <a:rPr lang="fr-FR" sz="3600" baseline="30000" dirty="0">
                <a:solidFill>
                  <a:srgbClr val="FF0000"/>
                </a:solidFill>
              </a:rPr>
              <a:t>π</a:t>
            </a:r>
            <a:r>
              <a:rPr lang="fr-FR" sz="3600" dirty="0">
                <a:solidFill>
                  <a:srgbClr val="FF0000"/>
                </a:solidFill>
              </a:rPr>
              <a:t>(s</a:t>
            </a:r>
            <a:r>
              <a:rPr lang="fr-FR" sz="3600" dirty="0" smtClean="0">
                <a:solidFill>
                  <a:srgbClr val="FF0000"/>
                </a:solidFill>
              </a:rPr>
              <a:t>)</a:t>
            </a:r>
            <a:endParaRPr lang="fr-FR" altLang="fr-FR" sz="3600" dirty="0" smtClean="0">
              <a:solidFill>
                <a:srgbClr val="FF0000"/>
              </a:solidFill>
            </a:endParaRPr>
          </a:p>
        </p:txBody>
      </p:sp>
      <p:sp>
        <p:nvSpPr>
          <p:cNvPr id="17411" name="Espace réservé du contenu 2"/>
          <p:cNvSpPr>
            <a:spLocks noGrp="1"/>
          </p:cNvSpPr>
          <p:nvPr>
            <p:ph idx="1"/>
          </p:nvPr>
        </p:nvSpPr>
        <p:spPr>
          <a:xfrm>
            <a:off x="609600" y="1556792"/>
            <a:ext cx="4622304" cy="4691608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>
                <a:solidFill>
                  <a:srgbClr val="FF0000"/>
                </a:solidFill>
              </a:rPr>
              <a:t>Définition :</a:t>
            </a:r>
          </a:p>
          <a:p>
            <a:endParaRPr lang="fr-FR" sz="2000" dirty="0" smtClean="0"/>
          </a:p>
          <a:p>
            <a:endParaRPr lang="fr-FR" sz="2000" dirty="0" smtClean="0"/>
          </a:p>
          <a:p>
            <a:pPr marL="0" indent="0">
              <a:buNone/>
            </a:pPr>
            <a:r>
              <a:rPr lang="fr-FR" altLang="fr-FR" sz="1800" kern="1200" dirty="0">
                <a:latin typeface="Calibri" panose="020F0502020204030204" pitchFamily="34" charset="0"/>
                <a:cs typeface="Calibri" panose="020F0502020204030204" pitchFamily="34" charset="0"/>
              </a:rPr>
              <a:t>où Gt est la somme des récompenses futures (actualisées).</a:t>
            </a:r>
          </a:p>
          <a:p>
            <a:pPr marL="0" indent="0">
              <a:buNone/>
            </a:pPr>
            <a:r>
              <a:rPr lang="fr-FR" altLang="fr-FR" sz="1800" kern="1200" dirty="0">
                <a:latin typeface="Calibri" panose="020F0502020204030204" pitchFamily="34" charset="0"/>
                <a:cs typeface="Calibri" panose="020F0502020204030204" pitchFamily="34" charset="0"/>
              </a:rPr>
              <a:t>Autrement dit : </a:t>
            </a:r>
            <a:r>
              <a:rPr lang="fr-FR" sz="1800" kern="1200" dirty="0">
                <a:latin typeface="Calibri" panose="020F0502020204030204" pitchFamily="34" charset="0"/>
                <a:cs typeface="Calibri" panose="020F0502020204030204" pitchFamily="34" charset="0"/>
              </a:rPr>
              <a:t>Vπ </a:t>
            </a:r>
            <a:r>
              <a:rPr lang="fr-FR" altLang="fr-FR" sz="1800" kern="1200" dirty="0">
                <a:latin typeface="Calibri" panose="020F0502020204030204" pitchFamily="34" charset="0"/>
                <a:cs typeface="Calibri" panose="020F0502020204030204" pitchFamily="34" charset="0"/>
              </a:rPr>
              <a:t>(s) = la valeur moyenne totale attendue quand on commence à l’état s, et qu’on suit la politique π ensuite. C’est entre l’état courant et le but.</a:t>
            </a:r>
          </a:p>
          <a:p>
            <a:pPr marL="0" indent="0">
              <a:buNone/>
            </a:pPr>
            <a:r>
              <a:rPr lang="fr-FR" sz="1800" kern="1200" dirty="0">
                <a:latin typeface="Calibri" panose="020F0502020204030204" pitchFamily="34" charset="0"/>
                <a:cs typeface="Calibri" panose="020F0502020204030204" pitchFamily="34" charset="0"/>
              </a:rPr>
              <a:t>Un état avec une valeur élevée est un "bon" état - il mène probablement à de bonnes récompenses futures. Un état avec une valeur faible est moins prometteur.</a:t>
            </a:r>
            <a:endParaRPr lang="fr-FR" altLang="fr-FR" sz="1800" kern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13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9FD8FD4-675A-4C17-9AAF-C6DDFC351272}" type="slidenum">
              <a:rPr lang="fr-FR" altLang="fr-FR" sz="1200" smtClean="0">
                <a:latin typeface="Arial Black" panose="020B0A04020102020204" pitchFamily="34" charset="0"/>
              </a:rPr>
              <a:pPr/>
              <a:t>11</a:t>
            </a:fld>
            <a:endParaRPr lang="fr-FR" altLang="fr-FR" sz="1200" dirty="0" smtClean="0">
              <a:latin typeface="Arial Black" panose="020B0A04020102020204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13" y="2132856"/>
            <a:ext cx="3157878" cy="6480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72064" y="1556792"/>
            <a:ext cx="1454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  <a:latin typeface="+mn-lt"/>
                <a:cs typeface="+mn-cs"/>
              </a:rPr>
              <a:t>Exemple</a:t>
            </a:r>
            <a:r>
              <a:rPr lang="fr-FR" sz="20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710" y="2276872"/>
            <a:ext cx="6548858" cy="25402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03046" y="5090830"/>
            <a:ext cx="6422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800" dirty="0">
                <a:latin typeface="Calibri" panose="020F0502020204030204" pitchFamily="34" charset="0"/>
                <a:cs typeface="Calibri" panose="020F0502020204030204" pitchFamily="34" charset="0"/>
              </a:rPr>
              <a:t>Cela signifie que </a:t>
            </a:r>
            <a:r>
              <a:rPr lang="fr-FR" sz="1800" b="1" dirty="0">
                <a:latin typeface="Calibri" panose="020F0502020204030204" pitchFamily="34" charset="0"/>
                <a:cs typeface="Calibri" panose="020F0502020204030204" pitchFamily="34" charset="0"/>
              </a:rPr>
              <a:t>s₂ est un meilleur état</a:t>
            </a:r>
            <a:r>
              <a:rPr lang="fr-FR" sz="1800" dirty="0">
                <a:latin typeface="Calibri" panose="020F0502020204030204" pitchFamily="34" charset="0"/>
                <a:cs typeface="Calibri" panose="020F0502020204030204" pitchFamily="34" charset="0"/>
              </a:rPr>
              <a:t> que s₁ sous cette politique.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620688"/>
            <a:ext cx="10972800" cy="523528"/>
          </a:xfrm>
        </p:spPr>
        <p:txBody>
          <a:bodyPr/>
          <a:lstStyle/>
          <a:p>
            <a:r>
              <a:rPr lang="fr-FR" sz="3600" dirty="0"/>
              <a:t>La fonction de valeur d’action </a:t>
            </a:r>
            <a:r>
              <a:rPr lang="fr-FR" sz="3600" dirty="0" smtClean="0"/>
              <a:t>: </a:t>
            </a:r>
            <a:r>
              <a:rPr lang="fr-FR" sz="3600" dirty="0">
                <a:solidFill>
                  <a:srgbClr val="FF0000"/>
                </a:solidFill>
              </a:rPr>
              <a:t>Q</a:t>
            </a:r>
            <a:r>
              <a:rPr lang="fr-FR" sz="3600" baseline="30000" dirty="0">
                <a:solidFill>
                  <a:srgbClr val="FF0000"/>
                </a:solidFill>
              </a:rPr>
              <a:t>π</a:t>
            </a:r>
            <a:r>
              <a:rPr lang="fr-FR" sz="3600" dirty="0">
                <a:solidFill>
                  <a:srgbClr val="FF0000"/>
                </a:solidFill>
              </a:rPr>
              <a:t>(</a:t>
            </a:r>
            <a:r>
              <a:rPr lang="fr-FR" sz="3600" dirty="0" err="1">
                <a:solidFill>
                  <a:srgbClr val="FF0000"/>
                </a:solidFill>
              </a:rPr>
              <a:t>s,a</a:t>
            </a:r>
            <a:r>
              <a:rPr lang="fr-FR" sz="3600" dirty="0" smtClean="0">
                <a:solidFill>
                  <a:srgbClr val="FF0000"/>
                </a:solidFill>
              </a:rPr>
              <a:t>)</a:t>
            </a:r>
            <a:endParaRPr lang="fr-FR" sz="3600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5918448" cy="5112568"/>
          </a:xfrm>
        </p:spPr>
        <p:txBody>
          <a:bodyPr/>
          <a:lstStyle/>
          <a:p>
            <a:pPr marL="0" indent="0">
              <a:buNone/>
            </a:pPr>
            <a:r>
              <a:rPr lang="fr-FR" sz="2000" dirty="0">
                <a:solidFill>
                  <a:srgbClr val="FF0000"/>
                </a:solidFill>
              </a:rPr>
              <a:t>Définition </a:t>
            </a:r>
            <a:r>
              <a:rPr lang="fr-FR" sz="2000" dirty="0" smtClean="0">
                <a:solidFill>
                  <a:srgbClr val="FF0000"/>
                </a:solidFill>
              </a:rPr>
              <a:t>:</a:t>
            </a:r>
          </a:p>
          <a:p>
            <a:endParaRPr lang="fr-FR" sz="2000" dirty="0" smtClean="0"/>
          </a:p>
          <a:p>
            <a:endParaRPr lang="fr-FR" sz="2000" dirty="0"/>
          </a:p>
          <a:p>
            <a:r>
              <a:rPr lang="fr-FR" sz="2000" dirty="0"/>
              <a:t>Q</a:t>
            </a:r>
            <a:r>
              <a:rPr lang="fr-FR" sz="2000" baseline="30000" dirty="0"/>
              <a:t>π</a:t>
            </a:r>
            <a:r>
              <a:rPr lang="fr-FR" sz="2000" dirty="0"/>
              <a:t>(</a:t>
            </a:r>
            <a:r>
              <a:rPr lang="fr-FR" sz="2000" dirty="0" err="1"/>
              <a:t>s,a</a:t>
            </a:r>
            <a:r>
              <a:rPr lang="fr-FR" sz="2000" dirty="0" smtClean="0"/>
              <a:t>) = </a:t>
            </a:r>
            <a:r>
              <a:rPr lang="fr-FR" sz="2000" dirty="0"/>
              <a:t>la valeur moyenne totale </a:t>
            </a:r>
            <a:r>
              <a:rPr lang="fr-FR" sz="2000" dirty="0" smtClean="0"/>
              <a:t>attendue (</a:t>
            </a:r>
            <a:r>
              <a:rPr lang="fr-FR" sz="2000" dirty="0"/>
              <a:t>e</a:t>
            </a:r>
            <a:r>
              <a:rPr lang="fr-FR" sz="2000" dirty="0" smtClean="0"/>
              <a:t>spérance</a:t>
            </a:r>
            <a:r>
              <a:rPr lang="fr-FR" sz="2000" dirty="0"/>
              <a:t>)</a:t>
            </a:r>
            <a:r>
              <a:rPr lang="fr-FR" sz="2000" dirty="0" smtClean="0"/>
              <a:t> </a:t>
            </a:r>
            <a:r>
              <a:rPr lang="fr-FR" sz="2000" dirty="0"/>
              <a:t>si on commence dans l’état </a:t>
            </a:r>
            <a:r>
              <a:rPr lang="fr-FR" sz="2000" dirty="0" smtClean="0"/>
              <a:t>s, on </a:t>
            </a:r>
            <a:r>
              <a:rPr lang="fr-FR" sz="2000" dirty="0"/>
              <a:t>choisit l’action </a:t>
            </a:r>
            <a:r>
              <a:rPr lang="fr-FR" sz="2000" dirty="0" smtClean="0"/>
              <a:t>a</a:t>
            </a:r>
            <a:r>
              <a:rPr lang="fr-FR" sz="2000" dirty="0"/>
              <a:t>, puis on suit π par la suite</a:t>
            </a:r>
            <a:r>
              <a:rPr lang="fr-FR" sz="2000" dirty="0" smtClean="0"/>
              <a:t>.</a:t>
            </a:r>
          </a:p>
          <a:p>
            <a:r>
              <a:rPr lang="fr-FR" sz="2000" b="1" dirty="0"/>
              <a:t>Exemple </a:t>
            </a:r>
            <a:r>
              <a:rPr lang="fr-FR" sz="2000" b="1" dirty="0" smtClean="0"/>
              <a:t>: </a:t>
            </a:r>
            <a:r>
              <a:rPr lang="fr-FR" sz="2000" dirty="0" smtClean="0"/>
              <a:t>Dans </a:t>
            </a:r>
            <a:r>
              <a:rPr lang="fr-FR" sz="2000" dirty="0"/>
              <a:t>l’état s₁, deux actions possibles :</a:t>
            </a:r>
          </a:p>
          <a:p>
            <a:pPr lvl="1"/>
            <a:r>
              <a:rPr lang="fr-FR" sz="1800" dirty="0"/>
              <a:t>Aller à gauche (G)</a:t>
            </a:r>
          </a:p>
          <a:p>
            <a:pPr lvl="1"/>
            <a:r>
              <a:rPr lang="fr-FR" sz="1800" dirty="0"/>
              <a:t>Aller à droite (D)</a:t>
            </a:r>
          </a:p>
          <a:p>
            <a:endParaRPr lang="fr-FR" sz="2000" dirty="0" smtClean="0"/>
          </a:p>
          <a:p>
            <a:endParaRPr lang="fr-FR" sz="2000" dirty="0"/>
          </a:p>
          <a:p>
            <a:r>
              <a:rPr lang="fr-FR" sz="2000" dirty="0"/>
              <a:t>Donc, dans s₁, </a:t>
            </a:r>
            <a:r>
              <a:rPr lang="fr-FR" sz="2000" b="1" dirty="0"/>
              <a:t>G</a:t>
            </a:r>
            <a:r>
              <a:rPr lang="fr-FR" sz="2000" dirty="0"/>
              <a:t> est plus rentable sous la politique π.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12</a:t>
            </a:fld>
            <a:endParaRPr lang="fr-FR" alt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1715116"/>
            <a:ext cx="4093085" cy="648072"/>
          </a:xfrm>
          <a:prstGeom prst="rect">
            <a:avLst/>
          </a:prstGeom>
        </p:spPr>
      </p:pic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848150"/>
              </p:ext>
            </p:extLst>
          </p:nvPr>
        </p:nvGraphicFramePr>
        <p:xfrm>
          <a:off x="3845856" y="4005064"/>
          <a:ext cx="2232248" cy="109728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116124">
                  <a:extLst>
                    <a:ext uri="{9D8B030D-6E8A-4147-A177-3AD203B41FA5}">
                      <a16:colId xmlns:a16="http://schemas.microsoft.com/office/drawing/2014/main" val="1721032228"/>
                    </a:ext>
                  </a:extLst>
                </a:gridCol>
                <a:gridCol w="1116124">
                  <a:extLst>
                    <a:ext uri="{9D8B030D-6E8A-4147-A177-3AD203B41FA5}">
                      <a16:colId xmlns:a16="http://schemas.microsoft.com/office/drawing/2014/main" val="263501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b="1" dirty="0"/>
                        <a:t>Action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b="1" dirty="0" smtClean="0"/>
                        <a:t>Q</a:t>
                      </a:r>
                      <a:r>
                        <a:rPr lang="fr-FR" sz="1800" b="1" baseline="30000" dirty="0" smtClean="0"/>
                        <a:t>π</a:t>
                      </a:r>
                      <a:r>
                        <a:rPr lang="fr-FR" sz="1800" b="1" dirty="0" smtClean="0"/>
                        <a:t>(</a:t>
                      </a:r>
                      <a:r>
                        <a:rPr lang="fr-FR" sz="1800" b="1" dirty="0" err="1" smtClean="0"/>
                        <a:t>s,a</a:t>
                      </a:r>
                      <a:r>
                        <a:rPr lang="fr-FR" sz="1800" b="1" dirty="0" smtClean="0"/>
                        <a:t>)</a:t>
                      </a:r>
                      <a:endParaRPr lang="fr-FR" b="1" dirty="0"/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81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8756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01913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032104" y="1502782"/>
            <a:ext cx="499413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solidFill>
                  <a:srgbClr val="FF0000"/>
                </a:solidFill>
              </a:rPr>
              <a:t>Différence avec V(s</a:t>
            </a:r>
            <a:r>
              <a:rPr lang="fr-FR" sz="2000" dirty="0" smtClean="0">
                <a:solidFill>
                  <a:srgbClr val="FF0000"/>
                </a:solidFill>
              </a:rPr>
              <a:t>)</a:t>
            </a:r>
          </a:p>
          <a:p>
            <a:endParaRPr lang="fr-FR" sz="1800" dirty="0">
              <a:solidFill>
                <a:srgbClr val="FF0000"/>
              </a:solidFill>
            </a:endParaRPr>
          </a:p>
          <a:p>
            <a:r>
              <a:rPr lang="fr-FR" sz="1800" b="1" dirty="0"/>
              <a:t>V(s)</a:t>
            </a:r>
            <a:r>
              <a:rPr lang="fr-FR" sz="1800" dirty="0"/>
              <a:t> : "Quelle est la valeur de cet état ?"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Dépend seulement de l'état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V(s) = valeur moyenne selon la politique </a:t>
            </a:r>
            <a:r>
              <a:rPr lang="fr-FR" sz="1800" dirty="0" smtClean="0"/>
              <a:t>actuelle.</a:t>
            </a:r>
          </a:p>
          <a:p>
            <a:endParaRPr lang="fr-FR" sz="1800" dirty="0"/>
          </a:p>
          <a:p>
            <a:r>
              <a:rPr lang="fr-FR" sz="1800" b="1" dirty="0"/>
              <a:t>Q(</a:t>
            </a:r>
            <a:r>
              <a:rPr lang="fr-FR" sz="1800" b="1" dirty="0" err="1"/>
              <a:t>s,a</a:t>
            </a:r>
            <a:r>
              <a:rPr lang="fr-FR" sz="1800" b="1" dirty="0"/>
              <a:t>)</a:t>
            </a:r>
            <a:r>
              <a:rPr lang="fr-FR" sz="1800" dirty="0"/>
              <a:t> : "Quelle est la valeur de faire cette action dans cet état ?"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Dépend de l'état ET de l'action choisie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/>
              <a:t>Permet de comparer différentes actions dans le même </a:t>
            </a:r>
            <a:r>
              <a:rPr lang="fr-FR" sz="1800" dirty="0" smtClean="0"/>
              <a:t>état.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3527188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11560"/>
          </a:xfrm>
        </p:spPr>
        <p:txBody>
          <a:bodyPr/>
          <a:lstStyle/>
          <a:p>
            <a:r>
              <a:rPr lang="fr-FR" sz="4000" dirty="0"/>
              <a:t>Relation entre V et Q</a:t>
            </a:r>
            <a:endParaRPr lang="fr-FR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56792"/>
                <a:ext cx="11247040" cy="4320480"/>
              </a:xfrm>
            </p:spPr>
            <p:txBody>
              <a:bodyPr/>
              <a:lstStyle/>
              <a:p>
                <a:r>
                  <a:rPr lang="fr-FR" sz="2000" dirty="0"/>
                  <a:t>On peut passer de l’un à l’autre </a:t>
                </a:r>
                <a:r>
                  <a:rPr lang="fr-FR" sz="2000" dirty="0" smtClean="0"/>
                  <a:t>:</a:t>
                </a:r>
              </a:p>
              <a:p>
                <a:endParaRPr lang="fr-FR" sz="2000" dirty="0"/>
              </a:p>
              <a:p>
                <a:pPr marL="0" indent="0">
                  <a:buNone/>
                </a:pPr>
                <a:r>
                  <a:rPr lang="fr-FR" sz="2000" dirty="0" smtClean="0">
                    <a:ea typeface="Cambria Math" panose="02040503050406030204" pitchFamily="18" charset="0"/>
                  </a:rPr>
                  <a:t>                                                             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fr-FR" sz="2000" dirty="0" smtClean="0"/>
                  <a:t> est l’état d’arrivée après l’action </a:t>
                </a:r>
                <a14:m>
                  <m:oMath xmlns:m="http://schemas.openxmlformats.org/officeDocument/2006/math">
                    <m:r>
                      <a:rPr lang="fr-FR" sz="20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fr-FR" sz="2000" dirty="0" smtClean="0"/>
              </a:p>
              <a:p>
                <a:r>
                  <a:rPr lang="fr-FR" sz="2000" dirty="0"/>
                  <a:t>La valeur d’un état est la </a:t>
                </a:r>
                <a:r>
                  <a:rPr lang="fr-FR" sz="2000" b="1" dirty="0"/>
                  <a:t>moyenne pondérée</a:t>
                </a:r>
                <a:r>
                  <a:rPr lang="fr-FR" sz="2000" dirty="0"/>
                  <a:t> des valeurs de ses actions possibles, selon la politique π</a:t>
                </a:r>
                <a:r>
                  <a:rPr lang="fr-FR" sz="2000" dirty="0" smtClean="0"/>
                  <a:t>.</a:t>
                </a:r>
              </a:p>
              <a:p>
                <a:pPr marL="0" indent="0">
                  <a:buNone/>
                </a:pPr>
                <a:r>
                  <a:rPr lang="fr-FR" sz="2000" b="1" dirty="0"/>
                  <a:t>Exemple concret</a:t>
                </a:r>
              </a:p>
              <a:p>
                <a:r>
                  <a:rPr lang="fr-FR" sz="2000" dirty="0"/>
                  <a:t>Imagine un robot à un carrefour (état s) avec 4 directions possibles :</a:t>
                </a:r>
              </a:p>
              <a:p>
                <a:pPr lvl="1"/>
                <a:r>
                  <a:rPr lang="fr-FR" sz="1800" dirty="0"/>
                  <a:t>Q(s, ↑) = 10 (aller en haut mène vers le trésor)</a:t>
                </a:r>
              </a:p>
              <a:p>
                <a:pPr lvl="1"/>
                <a:r>
                  <a:rPr lang="fr-FR" sz="1800" dirty="0"/>
                  <a:t>Q(s, →) = 5 (direction neutre)</a:t>
                </a:r>
              </a:p>
              <a:p>
                <a:pPr lvl="1"/>
                <a:r>
                  <a:rPr lang="fr-FR" sz="1800" dirty="0"/>
                  <a:t>Q(s, ↓) = -8 (direction dangereuse, piège proche)</a:t>
                </a:r>
              </a:p>
              <a:p>
                <a:pPr lvl="1"/>
                <a:r>
                  <a:rPr lang="fr-FR" sz="1800" dirty="0"/>
                  <a:t>Q(s, ←) = 3 (retour en arrière)</a:t>
                </a:r>
              </a:p>
              <a:p>
                <a:r>
                  <a:rPr lang="fr-FR" sz="2000" dirty="0"/>
                  <a:t>Ici, </a:t>
                </a:r>
                <a:r>
                  <a:rPr lang="fr-FR" sz="2000" b="1" dirty="0"/>
                  <a:t>Q nous dit quelle action est la meilleure</a:t>
                </a:r>
                <a:r>
                  <a:rPr lang="fr-FR" sz="2000" dirty="0"/>
                  <a:t> : aller en haut </a:t>
                </a:r>
                <a:r>
                  <a:rPr lang="fr-FR" sz="2000" dirty="0" smtClean="0"/>
                  <a:t>!</a:t>
                </a:r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56792"/>
                <a:ext cx="11247040" cy="4320480"/>
              </a:xfrm>
              <a:blipFill>
                <a:blip r:embed="rId2"/>
                <a:stretch>
                  <a:fillRect l="-542" t="-564" b="-1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13</a:t>
            </a:fld>
            <a:endParaRPr lang="fr-FR" alt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584" y="1961476"/>
            <a:ext cx="2829320" cy="685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/>
              <p:cNvSpPr txBox="1"/>
              <p:nvPr/>
            </p:nvSpPr>
            <p:spPr>
              <a:xfrm>
                <a:off x="6974286" y="1961476"/>
                <a:ext cx="352662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6" name="ZoneTexte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286" y="1961476"/>
                <a:ext cx="3526628" cy="307777"/>
              </a:xfrm>
              <a:prstGeom prst="rect">
                <a:avLst/>
              </a:prstGeom>
              <a:blipFill>
                <a:blip r:embed="rId4"/>
                <a:stretch>
                  <a:fillRect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146842" y="5960368"/>
            <a:ext cx="7898316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fr-FR" sz="2000" b="1" dirty="0"/>
              <a:t>V(s)</a:t>
            </a:r>
            <a:r>
              <a:rPr lang="fr-FR" sz="2000" dirty="0"/>
              <a:t> dit "où il est bon d'être", tandis que </a:t>
            </a:r>
            <a:r>
              <a:rPr lang="fr-FR" sz="2000" b="1" dirty="0"/>
              <a:t>Q(</a:t>
            </a:r>
            <a:r>
              <a:rPr lang="fr-FR" sz="2000" b="1" dirty="0" err="1"/>
              <a:t>s,a</a:t>
            </a:r>
            <a:r>
              <a:rPr lang="fr-FR" sz="2000" b="1" dirty="0"/>
              <a:t>)</a:t>
            </a:r>
            <a:r>
              <a:rPr lang="fr-FR" sz="2000" dirty="0"/>
              <a:t> dit "quoi faire et où" !</a:t>
            </a:r>
          </a:p>
        </p:txBody>
      </p:sp>
    </p:spTree>
    <p:extLst>
      <p:ext uri="{BB962C8B-B14F-4D97-AF65-F5344CB8AC3E}">
        <p14:creationId xmlns:p14="http://schemas.microsoft.com/office/powerpoint/2010/main" val="140825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811560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sz="40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14</a:t>
            </a:fld>
            <a:endParaRPr lang="fr-FR" altLang="fr-FR"/>
          </a:p>
        </p:txBody>
      </p:sp>
      <p:sp>
        <p:nvSpPr>
          <p:cNvPr id="8" name="Espace réservé du contenu 2"/>
          <p:cNvSpPr>
            <a:spLocks noGrp="1"/>
          </p:cNvSpPr>
          <p:nvPr>
            <p:ph idx="1"/>
          </p:nvPr>
        </p:nvSpPr>
        <p:spPr>
          <a:xfrm>
            <a:off x="609600" y="1556792"/>
            <a:ext cx="11247040" cy="432048"/>
          </a:xfrm>
        </p:spPr>
        <p:txBody>
          <a:bodyPr/>
          <a:lstStyle/>
          <a:p>
            <a:r>
              <a:rPr lang="fr-FR" sz="2000" b="1" dirty="0"/>
              <a:t>Environnement </a:t>
            </a:r>
            <a:r>
              <a:rPr lang="fr-FR" sz="2000" dirty="0"/>
              <a:t>: Grille </a:t>
            </a:r>
            <a:r>
              <a:rPr lang="fr-FR" sz="2000" dirty="0" smtClean="0"/>
              <a:t>2D </a:t>
            </a:r>
            <a:r>
              <a:rPr lang="fr-FR" sz="2000" dirty="0"/>
              <a:t>avec choix complexes</a:t>
            </a:r>
          </a:p>
          <a:p>
            <a:pPr marL="0" indent="0">
              <a:buNone/>
            </a:pPr>
            <a:endParaRPr lang="fr-FR" sz="2000" dirty="0"/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4944752"/>
              </p:ext>
            </p:extLst>
          </p:nvPr>
        </p:nvGraphicFramePr>
        <p:xfrm>
          <a:off x="1055440" y="2318420"/>
          <a:ext cx="3168352" cy="15841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410533"/>
            <a:ext cx="595672" cy="46672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728" y="2636912"/>
            <a:ext cx="369107" cy="40158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5720" y="3410533"/>
            <a:ext cx="513123" cy="43504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464" y="3469443"/>
            <a:ext cx="434386" cy="39409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49355" y="2199644"/>
            <a:ext cx="682763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Règles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Départ</a:t>
            </a:r>
            <a:r>
              <a:rPr lang="fr-FR" sz="2000" dirty="0"/>
              <a:t> : </a:t>
            </a:r>
            <a:r>
              <a:rPr lang="fr-FR" sz="2000" dirty="0" smtClean="0"/>
              <a:t>S4</a:t>
            </a:r>
            <a:endParaRPr lang="fr-F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Objectifs</a:t>
            </a:r>
            <a:r>
              <a:rPr lang="fr-FR" sz="2000" dirty="0"/>
              <a:t>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 smtClean="0"/>
              <a:t>S3 </a:t>
            </a:r>
            <a:r>
              <a:rPr lang="fr-FR" sz="2000" dirty="0"/>
              <a:t>: +10 (objectif principal)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2000" dirty="0" smtClean="0"/>
              <a:t>S7 </a:t>
            </a:r>
            <a:r>
              <a:rPr lang="fr-FR" sz="2000" dirty="0"/>
              <a:t>: +5 (objectif secondaire, plus proche)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Danger</a:t>
            </a:r>
            <a:r>
              <a:rPr lang="fr-FR" sz="2000" dirty="0"/>
              <a:t> : </a:t>
            </a:r>
            <a:r>
              <a:rPr lang="fr-FR" sz="2000" dirty="0" smtClean="0"/>
              <a:t>S5 </a:t>
            </a:r>
            <a:r>
              <a:rPr lang="fr-FR" sz="2000" dirty="0"/>
              <a:t>: -10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États terminaux</a:t>
            </a:r>
            <a:r>
              <a:rPr lang="fr-FR" sz="2000" dirty="0"/>
              <a:t> : S3, S5, S7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Actions</a:t>
            </a:r>
            <a:r>
              <a:rPr lang="fr-FR" sz="2000" dirty="0"/>
              <a:t> : Haut (↑), Bas (↓), Gauche (←), Droite (→)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Mouvement</a:t>
            </a:r>
            <a:r>
              <a:rPr lang="fr-FR" sz="2000" dirty="0"/>
              <a:t> : déterministe (tu vas où tu veux)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b="1" dirty="0"/>
              <a:t>γ = 0.9</a:t>
            </a:r>
            <a:endParaRPr lang="fr-FR" sz="2000" dirty="0"/>
          </a:p>
        </p:txBody>
      </p:sp>
      <p:sp>
        <p:nvSpPr>
          <p:cNvPr id="15" name="Rectangle 14"/>
          <p:cNvSpPr/>
          <p:nvPr/>
        </p:nvSpPr>
        <p:spPr>
          <a:xfrm>
            <a:off x="767408" y="4600039"/>
            <a:ext cx="38884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b="1" dirty="0"/>
              <a:t>Question intéressante :</a:t>
            </a:r>
          </a:p>
          <a:p>
            <a:r>
              <a:rPr lang="fr-FR" sz="2000" dirty="0"/>
              <a:t>Depuis S4, </a:t>
            </a:r>
            <a:r>
              <a:rPr lang="fr-FR" sz="2000" dirty="0" err="1"/>
              <a:t>vaut-il</a:t>
            </a:r>
            <a:r>
              <a:rPr lang="fr-FR" sz="2000" dirty="0"/>
              <a:t> mieux aller vers S7 (+5, proche) ou S3 (+10, loin en contournant le piège) ?</a:t>
            </a:r>
          </a:p>
        </p:txBody>
      </p:sp>
    </p:spTree>
    <p:extLst>
      <p:ext uri="{BB962C8B-B14F-4D97-AF65-F5344CB8AC3E}">
        <p14:creationId xmlns:p14="http://schemas.microsoft.com/office/powerpoint/2010/main" val="1512133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53648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Calcul de V(s) - États terminaux </a:t>
            </a:r>
            <a:r>
              <a:rPr lang="fr-FR" sz="2000" b="1" dirty="0" smtClean="0">
                <a:solidFill>
                  <a:srgbClr val="FF0000"/>
                </a:solidFill>
              </a:rPr>
              <a:t>d'abord</a:t>
            </a:r>
          </a:p>
          <a:p>
            <a:r>
              <a:rPr lang="fr-FR" sz="2000" b="1" dirty="0">
                <a:solidFill>
                  <a:srgbClr val="00B0F0"/>
                </a:solidFill>
              </a:rPr>
              <a:t>Étape 1 : États terminaux</a:t>
            </a:r>
          </a:p>
          <a:p>
            <a:pPr lvl="1"/>
            <a:r>
              <a:rPr lang="fr-FR" sz="1600" b="1" dirty="0"/>
              <a:t>V(S3) = 0</a:t>
            </a:r>
            <a:r>
              <a:rPr lang="fr-FR" sz="1600" dirty="0"/>
              <a:t> (terminal)</a:t>
            </a:r>
          </a:p>
          <a:p>
            <a:pPr lvl="1"/>
            <a:r>
              <a:rPr lang="fr-FR" sz="1600" b="1" dirty="0"/>
              <a:t>V(S5) = 0</a:t>
            </a:r>
            <a:r>
              <a:rPr lang="fr-FR" sz="1600" dirty="0"/>
              <a:t> (terminal - piège)</a:t>
            </a:r>
          </a:p>
          <a:p>
            <a:pPr lvl="1"/>
            <a:r>
              <a:rPr lang="fr-FR" sz="1600" b="1" dirty="0"/>
              <a:t>V(S7) = 0</a:t>
            </a:r>
            <a:r>
              <a:rPr lang="fr-FR" sz="1600" dirty="0"/>
              <a:t> (terminal)</a:t>
            </a:r>
          </a:p>
          <a:p>
            <a:r>
              <a:rPr lang="fr-FR" sz="2000" b="1" dirty="0">
                <a:solidFill>
                  <a:srgbClr val="00B0F0"/>
                </a:solidFill>
              </a:rPr>
              <a:t>Étape 2 : États adjacents aux terminaux</a:t>
            </a:r>
          </a:p>
          <a:p>
            <a:pPr lvl="1"/>
            <a:r>
              <a:rPr lang="fr-FR" sz="1600" b="1" dirty="0"/>
              <a:t>V(S2)</a:t>
            </a:r>
            <a:r>
              <a:rPr lang="fr-FR" sz="1600" dirty="0"/>
              <a:t> : peut aller à S3 (→) ou </a:t>
            </a:r>
            <a:r>
              <a:rPr lang="fr-FR" sz="1600" dirty="0" smtClean="0"/>
              <a:t>S1/S6</a:t>
            </a:r>
          </a:p>
          <a:p>
            <a:pPr lvl="2"/>
            <a:r>
              <a:rPr lang="nl-NL" sz="1600" dirty="0"/>
              <a:t>Q(S2, →) = 10 + 0.9 × 0 = 10  ← </a:t>
            </a:r>
            <a:r>
              <a:rPr lang="nl-NL" sz="1600" dirty="0" err="1" smtClean="0"/>
              <a:t>meilleur</a:t>
            </a:r>
            <a:endParaRPr lang="nl-NL" sz="1600" dirty="0" smtClean="0"/>
          </a:p>
          <a:p>
            <a:pPr lvl="2"/>
            <a:r>
              <a:rPr lang="nl-NL" sz="1600" dirty="0" smtClean="0"/>
              <a:t>Q(S2</a:t>
            </a:r>
            <a:r>
              <a:rPr lang="nl-NL" sz="1600" dirty="0"/>
              <a:t>, ↓) = 0 + 0.9 × V(S6</a:t>
            </a:r>
            <a:r>
              <a:rPr lang="nl-NL" sz="1600" dirty="0" smtClean="0"/>
              <a:t>)</a:t>
            </a:r>
          </a:p>
          <a:p>
            <a:pPr lvl="2"/>
            <a:r>
              <a:rPr lang="nl-NL" sz="1600" dirty="0" smtClean="0"/>
              <a:t>Q(S2</a:t>
            </a:r>
            <a:r>
              <a:rPr lang="nl-NL" sz="1600" dirty="0"/>
              <a:t>, ←) = 0 + 0.9 × V(S1</a:t>
            </a:r>
            <a:r>
              <a:rPr lang="nl-NL" sz="1600" dirty="0" smtClean="0"/>
              <a:t>)</a:t>
            </a:r>
          </a:p>
          <a:p>
            <a:pPr marL="457200" lvl="1" indent="0">
              <a:buNone/>
            </a:pPr>
            <a:r>
              <a:rPr lang="nl-NL" sz="1600" dirty="0"/>
              <a:t> </a:t>
            </a:r>
            <a:r>
              <a:rPr lang="nl-NL" sz="1600" dirty="0" smtClean="0"/>
              <a:t>     V(S2</a:t>
            </a:r>
            <a:r>
              <a:rPr lang="nl-NL" sz="1600" dirty="0"/>
              <a:t>) = 10 (en </a:t>
            </a:r>
            <a:r>
              <a:rPr lang="nl-NL" sz="1600" dirty="0" err="1"/>
              <a:t>choisissant</a:t>
            </a:r>
            <a:r>
              <a:rPr lang="nl-NL" sz="1600" dirty="0"/>
              <a:t> →)</a:t>
            </a:r>
            <a:endParaRPr lang="fr-FR" sz="1600" dirty="0"/>
          </a:p>
          <a:p>
            <a:pPr lvl="1"/>
            <a:r>
              <a:rPr lang="fr-FR" sz="1600" b="1" dirty="0"/>
              <a:t>V(S6)</a:t>
            </a:r>
            <a:r>
              <a:rPr lang="fr-FR" sz="1600" dirty="0"/>
              <a:t> : peut aller à S7 (→) ou </a:t>
            </a:r>
            <a:r>
              <a:rPr lang="fr-FR" sz="1600" dirty="0" smtClean="0"/>
              <a:t>S5/S2</a:t>
            </a:r>
          </a:p>
          <a:p>
            <a:pPr lvl="2"/>
            <a:r>
              <a:rPr lang="fr-FR" sz="1600" dirty="0"/>
              <a:t>Q(S6, →) = 5 + 0.9 × 0 = 5  ← </a:t>
            </a:r>
            <a:r>
              <a:rPr lang="fr-FR" sz="1600" dirty="0" smtClean="0"/>
              <a:t>meilleur</a:t>
            </a:r>
          </a:p>
          <a:p>
            <a:pPr lvl="2"/>
            <a:r>
              <a:rPr lang="fr-FR" sz="1600" dirty="0" smtClean="0"/>
              <a:t>Q(S6</a:t>
            </a:r>
            <a:r>
              <a:rPr lang="fr-FR" sz="1600" dirty="0"/>
              <a:t>, ←) = 0 + 0.9 × V(S5) = 0 + 0.9 × 0 = </a:t>
            </a:r>
            <a:r>
              <a:rPr lang="fr-FR" sz="1600" dirty="0" smtClean="0"/>
              <a:t>0</a:t>
            </a:r>
          </a:p>
          <a:p>
            <a:pPr lvl="2"/>
            <a:r>
              <a:rPr lang="fr-FR" sz="1600" dirty="0" smtClean="0"/>
              <a:t>Q(S6</a:t>
            </a:r>
            <a:r>
              <a:rPr lang="fr-FR" sz="1600" dirty="0"/>
              <a:t>, ↑) = 0 + 0.9 × V(S2) = 0 + 0.9 × 10 = 9  ← ENCORE MIEUX </a:t>
            </a:r>
            <a:r>
              <a:rPr lang="fr-FR" sz="1600" dirty="0" smtClean="0"/>
              <a:t>!</a:t>
            </a:r>
          </a:p>
          <a:p>
            <a:pPr marL="457200" lvl="1" indent="0">
              <a:buNone/>
            </a:pPr>
            <a:r>
              <a:rPr lang="fr-FR" sz="1600" dirty="0" smtClean="0"/>
              <a:t>     V(S6</a:t>
            </a:r>
            <a:r>
              <a:rPr lang="fr-FR" sz="1600" dirty="0"/>
              <a:t>) = 9 (en allant vers S2 puis S3 !)</a:t>
            </a:r>
          </a:p>
          <a:p>
            <a:pPr lvl="1"/>
            <a:r>
              <a:rPr lang="fr-FR" sz="1600" b="1" dirty="0"/>
              <a:t>Intéressant !</a:t>
            </a:r>
            <a:r>
              <a:rPr lang="fr-FR" sz="1600" dirty="0"/>
              <a:t> Depuis S6, mieux vaut aller vers S3 (+10) que vers S7 (+5) même si S7 est plus proche !</a:t>
            </a:r>
          </a:p>
          <a:p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15</a:t>
            </a:fld>
            <a:endParaRPr lang="fr-FR" altLang="fr-FR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263585"/>
              </p:ext>
            </p:extLst>
          </p:nvPr>
        </p:nvGraphicFramePr>
        <p:xfrm>
          <a:off x="6904788" y="1196752"/>
          <a:ext cx="3168352" cy="15841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8884" y="2288865"/>
            <a:ext cx="595672" cy="4667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076" y="1515244"/>
            <a:ext cx="369107" cy="40158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068" y="2288865"/>
            <a:ext cx="513123" cy="43504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812" y="2347775"/>
            <a:ext cx="434386" cy="394095"/>
          </a:xfrm>
          <a:prstGeom prst="rect">
            <a:avLst/>
          </a:prstGeom>
        </p:spPr>
      </p:pic>
      <p:sp>
        <p:nvSpPr>
          <p:cNvPr id="14" name="Espace réservé du contenu 2"/>
          <p:cNvSpPr txBox="1">
            <a:spLocks/>
          </p:cNvSpPr>
          <p:nvPr/>
        </p:nvSpPr>
        <p:spPr bwMode="auto">
          <a:xfrm>
            <a:off x="6744072" y="2985528"/>
            <a:ext cx="4896544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fr-FR" sz="2000" b="1" dirty="0"/>
              <a:t>V(S4)</a:t>
            </a:r>
            <a:r>
              <a:rPr lang="fr-FR" sz="2000" dirty="0"/>
              <a:t> : peut aller à </a:t>
            </a:r>
            <a:r>
              <a:rPr lang="fr-FR" sz="2000" dirty="0" smtClean="0"/>
              <a:t>S5, </a:t>
            </a:r>
            <a:r>
              <a:rPr lang="fr-FR" sz="2000" dirty="0"/>
              <a:t>S0, ou S6</a:t>
            </a:r>
            <a:endParaRPr lang="fr-FR" sz="1600" kern="0" dirty="0" smtClean="0"/>
          </a:p>
          <a:p>
            <a:pPr lvl="1"/>
            <a:r>
              <a:rPr lang="en-US" sz="1600" dirty="0"/>
              <a:t>Q(S4, →) = 0 + 0.9 × V(S5) = -10 + 0.9 × 0 = -10 ← DANGER ! </a:t>
            </a:r>
            <a:endParaRPr lang="en-US" sz="1600" dirty="0" smtClean="0"/>
          </a:p>
          <a:p>
            <a:pPr lvl="1"/>
            <a:r>
              <a:rPr lang="en-US" sz="1600" dirty="0" smtClean="0"/>
              <a:t>Q(S4</a:t>
            </a:r>
            <a:r>
              <a:rPr lang="en-US" sz="1600" dirty="0"/>
              <a:t>, ↑) = 0 + 0.9 × V(S0) </a:t>
            </a:r>
            <a:endParaRPr lang="en-US" sz="1600" dirty="0" smtClean="0"/>
          </a:p>
          <a:p>
            <a:pPr lvl="1"/>
            <a:r>
              <a:rPr lang="en-US" sz="1600" dirty="0" smtClean="0"/>
              <a:t>Q(S4</a:t>
            </a:r>
            <a:r>
              <a:rPr lang="en-US" sz="1600" dirty="0"/>
              <a:t>, ↓) = impossible (</a:t>
            </a:r>
            <a:r>
              <a:rPr lang="en-US" sz="1600" dirty="0" err="1"/>
              <a:t>bord</a:t>
            </a:r>
            <a:r>
              <a:rPr lang="en-US" sz="1600" dirty="0"/>
              <a:t>) Q(S4, ← ) </a:t>
            </a:r>
            <a:endParaRPr lang="en-US" sz="1600" dirty="0" smtClean="0"/>
          </a:p>
          <a:p>
            <a:pPr marL="457200" lvl="1" indent="0">
              <a:buNone/>
            </a:pPr>
            <a:r>
              <a:rPr lang="en-US" sz="1600" dirty="0"/>
              <a:t> </a:t>
            </a:r>
            <a:r>
              <a:rPr lang="en-US" sz="1600" dirty="0" smtClean="0"/>
              <a:t>                   = </a:t>
            </a:r>
            <a:r>
              <a:rPr lang="en-US" sz="1600" dirty="0"/>
              <a:t>impossible (</a:t>
            </a:r>
            <a:r>
              <a:rPr lang="en-US" sz="1600" dirty="0" err="1"/>
              <a:t>bord</a:t>
            </a:r>
            <a:r>
              <a:rPr lang="en-US" sz="1600" dirty="0" smtClean="0"/>
              <a:t>)</a:t>
            </a:r>
          </a:p>
          <a:p>
            <a:pPr marL="0" indent="0">
              <a:buNone/>
            </a:pPr>
            <a:r>
              <a:rPr lang="fr-FR" sz="2000" dirty="0" smtClean="0"/>
              <a:t>       Il </a:t>
            </a:r>
            <a:r>
              <a:rPr lang="fr-FR" sz="2000" dirty="0"/>
              <a:t>nous faut V(S0), continuons...</a:t>
            </a:r>
            <a:endParaRPr lang="fr-FR" sz="2000" kern="0" dirty="0"/>
          </a:p>
        </p:txBody>
      </p:sp>
    </p:spTree>
    <p:extLst>
      <p:ext uri="{BB962C8B-B14F-4D97-AF65-F5344CB8AC3E}">
        <p14:creationId xmlns:p14="http://schemas.microsoft.com/office/powerpoint/2010/main" val="239001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53648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Calcul de V(s) - États terminaux </a:t>
            </a:r>
            <a:r>
              <a:rPr lang="fr-FR" sz="2000" b="1" dirty="0" smtClean="0">
                <a:solidFill>
                  <a:srgbClr val="FF0000"/>
                </a:solidFill>
              </a:rPr>
              <a:t>d'abord</a:t>
            </a:r>
          </a:p>
          <a:p>
            <a:r>
              <a:rPr lang="fr-FR" sz="2000" b="1" dirty="0">
                <a:solidFill>
                  <a:srgbClr val="00B0F0"/>
                </a:solidFill>
              </a:rPr>
              <a:t>Étape 3 : Propagation complète</a:t>
            </a:r>
          </a:p>
          <a:p>
            <a:r>
              <a:rPr lang="fr-FR" sz="2000" dirty="0" smtClean="0"/>
              <a:t>On va </a:t>
            </a:r>
            <a:r>
              <a:rPr lang="fr-FR" sz="2000" dirty="0"/>
              <a:t>utiliser l'</a:t>
            </a:r>
            <a:r>
              <a:rPr lang="fr-FR" sz="2000" b="1" dirty="0"/>
              <a:t>équation de Bellman</a:t>
            </a:r>
            <a:r>
              <a:rPr lang="fr-FR" sz="2000" dirty="0"/>
              <a:t> de façon itérative :</a:t>
            </a:r>
          </a:p>
          <a:p>
            <a:r>
              <a:rPr lang="fr-FR" sz="2000" b="1" dirty="0"/>
              <a:t>V(S1)</a:t>
            </a:r>
            <a:r>
              <a:rPr lang="fr-FR" sz="2000" dirty="0"/>
              <a:t> </a:t>
            </a:r>
            <a:r>
              <a:rPr lang="fr-FR" sz="2000" dirty="0" smtClean="0"/>
              <a:t>:</a:t>
            </a:r>
          </a:p>
          <a:p>
            <a:pPr lvl="1"/>
            <a:r>
              <a:rPr lang="fr-FR" sz="1600" dirty="0"/>
              <a:t>Q(S1, →) = 0 + 0.9 × V(S2) = 0 + 0.9 × 10 = </a:t>
            </a:r>
            <a:r>
              <a:rPr lang="fr-FR" sz="1600" dirty="0" smtClean="0"/>
              <a:t>9</a:t>
            </a:r>
          </a:p>
          <a:p>
            <a:pPr lvl="1"/>
            <a:r>
              <a:rPr lang="fr-FR" sz="1600" dirty="0" smtClean="0"/>
              <a:t>Q(S1</a:t>
            </a:r>
            <a:r>
              <a:rPr lang="fr-FR" sz="1600" dirty="0"/>
              <a:t>, ←) = 0 + 0.9 × V(S0</a:t>
            </a:r>
            <a:r>
              <a:rPr lang="fr-FR" sz="1600" dirty="0" smtClean="0"/>
              <a:t>)</a:t>
            </a:r>
          </a:p>
          <a:p>
            <a:pPr lvl="1"/>
            <a:r>
              <a:rPr lang="fr-FR" sz="1600" dirty="0" smtClean="0"/>
              <a:t>Q(S1</a:t>
            </a:r>
            <a:r>
              <a:rPr lang="fr-FR" sz="1600" dirty="0"/>
              <a:t>, ↓) = 0 + 0.9 × V(S5) = -10 + 0.9 × 0 = -</a:t>
            </a:r>
            <a:r>
              <a:rPr lang="fr-FR" sz="1600" dirty="0" smtClean="0"/>
              <a:t>10</a:t>
            </a:r>
          </a:p>
          <a:p>
            <a:pPr lvl="1"/>
            <a:r>
              <a:rPr lang="fr-FR" sz="1600" dirty="0" smtClean="0"/>
              <a:t>V(S1</a:t>
            </a:r>
            <a:r>
              <a:rPr lang="fr-FR" sz="1600" dirty="0"/>
              <a:t>) ≈ 9 (en allant à droite</a:t>
            </a:r>
            <a:r>
              <a:rPr lang="fr-FR" sz="1600" dirty="0" smtClean="0"/>
              <a:t>)</a:t>
            </a:r>
          </a:p>
          <a:p>
            <a:r>
              <a:rPr lang="fr-FR" sz="2000" b="1" dirty="0"/>
              <a:t>V(S0)</a:t>
            </a:r>
            <a:r>
              <a:rPr lang="fr-FR" sz="2000" dirty="0"/>
              <a:t> </a:t>
            </a:r>
            <a:r>
              <a:rPr lang="fr-FR" sz="2000" dirty="0" smtClean="0"/>
              <a:t>:</a:t>
            </a:r>
          </a:p>
          <a:p>
            <a:pPr lvl="1"/>
            <a:r>
              <a:rPr lang="fr-FR" sz="1600" dirty="0"/>
              <a:t>Q(S0, →) = 0 + 0.9 × V(S1) = 0 + 0.9 × 9 = </a:t>
            </a:r>
            <a:r>
              <a:rPr lang="fr-FR" sz="1600" dirty="0" smtClean="0"/>
              <a:t>8.1</a:t>
            </a:r>
          </a:p>
          <a:p>
            <a:pPr lvl="1"/>
            <a:r>
              <a:rPr lang="fr-FR" sz="1600" dirty="0" smtClean="0"/>
              <a:t>Q(S0</a:t>
            </a:r>
            <a:r>
              <a:rPr lang="fr-FR" sz="1600" dirty="0"/>
              <a:t>, ↓) = 0 + 0.9 × V(S4</a:t>
            </a:r>
            <a:r>
              <a:rPr lang="fr-FR" sz="1600" dirty="0" smtClean="0"/>
              <a:t>)</a:t>
            </a:r>
          </a:p>
          <a:p>
            <a:pPr lvl="1"/>
            <a:r>
              <a:rPr lang="fr-FR" sz="1600" dirty="0" smtClean="0"/>
              <a:t>V(S0</a:t>
            </a:r>
            <a:r>
              <a:rPr lang="fr-FR" sz="1600" dirty="0"/>
              <a:t>) ≈ </a:t>
            </a:r>
            <a:r>
              <a:rPr lang="fr-FR" sz="1600" dirty="0" smtClean="0"/>
              <a:t>8.1</a:t>
            </a:r>
          </a:p>
          <a:p>
            <a:r>
              <a:rPr lang="fr-FR" sz="2000" b="1" dirty="0"/>
              <a:t>Retour à V(S4)</a:t>
            </a:r>
            <a:r>
              <a:rPr lang="fr-FR" sz="2000" dirty="0"/>
              <a:t> </a:t>
            </a:r>
            <a:r>
              <a:rPr lang="fr-FR" sz="2000" dirty="0" smtClean="0"/>
              <a:t>:</a:t>
            </a:r>
          </a:p>
          <a:p>
            <a:pPr lvl="1"/>
            <a:r>
              <a:rPr lang="fr-FR" sz="1600" dirty="0"/>
              <a:t>Q(S4, →) = -10 + 0.9 × 0 = -10  ← </a:t>
            </a:r>
            <a:r>
              <a:rPr lang="fr-FR" sz="1600" dirty="0" smtClean="0"/>
              <a:t>SURTOUT </a:t>
            </a:r>
            <a:r>
              <a:rPr lang="fr-FR" sz="1600" dirty="0"/>
              <a:t>PAS </a:t>
            </a:r>
            <a:r>
              <a:rPr lang="fr-FR" sz="1600" dirty="0" smtClean="0"/>
              <a:t>!</a:t>
            </a:r>
          </a:p>
          <a:p>
            <a:pPr lvl="1"/>
            <a:r>
              <a:rPr lang="fr-FR" sz="1600" dirty="0" smtClean="0"/>
              <a:t>Q(S4</a:t>
            </a:r>
            <a:r>
              <a:rPr lang="fr-FR" sz="1600" dirty="0"/>
              <a:t>, ↑) = 0 + 0.9 × V(S0) = 0 + 0.9 × 8.1 = </a:t>
            </a:r>
            <a:r>
              <a:rPr lang="fr-FR" sz="1600" dirty="0" smtClean="0"/>
              <a:t>7.29</a:t>
            </a:r>
          </a:p>
          <a:p>
            <a:pPr lvl="1"/>
            <a:r>
              <a:rPr lang="fr-FR" sz="1600" dirty="0" smtClean="0"/>
              <a:t>Mais </a:t>
            </a:r>
            <a:r>
              <a:rPr lang="fr-FR" sz="1600" dirty="0"/>
              <a:t>on peut aussi aller en S6 directement si on considère un mouvement diagonal, ou...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16</a:t>
            </a:fld>
            <a:endParaRPr lang="fr-FR" altLang="fr-FR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626163"/>
              </p:ext>
            </p:extLst>
          </p:nvPr>
        </p:nvGraphicFramePr>
        <p:xfrm>
          <a:off x="7536160" y="1340768"/>
          <a:ext cx="3168352" cy="15841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256" y="2432881"/>
            <a:ext cx="595672" cy="4667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8448" y="1659260"/>
            <a:ext cx="369107" cy="40158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440" y="2432881"/>
            <a:ext cx="513123" cy="43504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184" y="2491791"/>
            <a:ext cx="434386" cy="394095"/>
          </a:xfrm>
          <a:prstGeom prst="rect">
            <a:avLst/>
          </a:prstGeom>
        </p:spPr>
      </p:pic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43844"/>
              </p:ext>
            </p:extLst>
          </p:nvPr>
        </p:nvGraphicFramePr>
        <p:xfrm>
          <a:off x="7554784" y="3429000"/>
          <a:ext cx="3168352" cy="15841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S0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 8,1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 9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 10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 7,3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 9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104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5207435" cy="5184576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Calcul complet de Q(</a:t>
            </a:r>
            <a:r>
              <a:rPr lang="fr-FR" sz="2000" b="1" dirty="0" err="1">
                <a:solidFill>
                  <a:srgbClr val="FF0000"/>
                </a:solidFill>
              </a:rPr>
              <a:t>s,a</a:t>
            </a:r>
            <a:r>
              <a:rPr lang="fr-FR" sz="20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fr-FR" sz="2000" dirty="0" smtClean="0"/>
              <a:t>Se fait pour </a:t>
            </a:r>
            <a:r>
              <a:rPr lang="fr-FR" sz="2000" b="1" dirty="0"/>
              <a:t>chaque paire (état, action)</a:t>
            </a:r>
            <a:r>
              <a:rPr lang="fr-FR" sz="2000" dirty="0"/>
              <a:t> possible</a:t>
            </a:r>
            <a:r>
              <a:rPr lang="fr-FR" sz="2000" dirty="0" smtClean="0"/>
              <a:t>.</a:t>
            </a:r>
          </a:p>
          <a:p>
            <a:r>
              <a:rPr lang="fr-FR" sz="2000" b="1" dirty="0"/>
              <a:t>États terminaux (pas de Q à calculer</a:t>
            </a:r>
            <a:r>
              <a:rPr lang="fr-FR" sz="2000" b="1" dirty="0" smtClean="0"/>
              <a:t>) :</a:t>
            </a:r>
            <a:endParaRPr lang="fr-FR" sz="2000" b="1" dirty="0"/>
          </a:p>
          <a:p>
            <a:pPr lvl="1"/>
            <a:r>
              <a:rPr lang="fr-FR" sz="1800" dirty="0"/>
              <a:t>S3, S5, S7 : terminaux, pas d'actions possibles</a:t>
            </a:r>
          </a:p>
          <a:p>
            <a:r>
              <a:rPr lang="fr-FR" sz="2000" b="1" dirty="0"/>
              <a:t>S2 (voisin direct de S3)</a:t>
            </a:r>
          </a:p>
          <a:p>
            <a:pPr lvl="1"/>
            <a:r>
              <a:rPr lang="fr-FR" sz="1800" b="1" dirty="0"/>
              <a:t>Actions possibles</a:t>
            </a:r>
            <a:r>
              <a:rPr lang="fr-FR" sz="1800" dirty="0"/>
              <a:t> : ↑, ↓, ←, →</a:t>
            </a:r>
          </a:p>
          <a:p>
            <a:pPr lvl="1"/>
            <a:r>
              <a:rPr lang="fr-FR" sz="1800" b="1" dirty="0"/>
              <a:t>Q(S2, →) : aller vers S3</a:t>
            </a:r>
          </a:p>
          <a:p>
            <a:pPr lvl="2"/>
            <a:r>
              <a:rPr lang="pt-BR" sz="1600" dirty="0"/>
              <a:t>Q(S2, →) = R(S2→S3) + γ × V(S3) </a:t>
            </a:r>
            <a:endParaRPr lang="pt-BR" sz="1600" dirty="0" smtClean="0"/>
          </a:p>
          <a:p>
            <a:pPr lvl="2"/>
            <a:r>
              <a:rPr lang="pt-BR" sz="1600" dirty="0" smtClean="0"/>
              <a:t>Q(S2</a:t>
            </a:r>
            <a:r>
              <a:rPr lang="pt-BR" sz="1600" dirty="0"/>
              <a:t>, →) = 10 + 0.9 × 0 </a:t>
            </a:r>
            <a:r>
              <a:rPr lang="pt-BR" sz="1600" dirty="0" smtClean="0"/>
              <a:t>= </a:t>
            </a:r>
            <a:r>
              <a:rPr lang="pt-BR" sz="1600" b="1" dirty="0" smtClean="0">
                <a:solidFill>
                  <a:srgbClr val="00B050"/>
                </a:solidFill>
              </a:rPr>
              <a:t>10</a:t>
            </a:r>
          </a:p>
          <a:p>
            <a:pPr lvl="1"/>
            <a:r>
              <a:rPr lang="fr-FR" sz="1800" b="1" dirty="0" smtClean="0"/>
              <a:t>Q(S2</a:t>
            </a:r>
            <a:r>
              <a:rPr lang="fr-FR" sz="1800" b="1" dirty="0"/>
              <a:t>, ←) : aller vers S1</a:t>
            </a:r>
          </a:p>
          <a:p>
            <a:pPr lvl="2"/>
            <a:r>
              <a:rPr lang="fr-FR" sz="1600" dirty="0"/>
              <a:t>Q(S2, </a:t>
            </a:r>
            <a:r>
              <a:rPr lang="fr-FR" sz="1600" dirty="0" smtClean="0"/>
              <a:t>←</a:t>
            </a:r>
            <a:r>
              <a:rPr lang="fr-FR" sz="1600" dirty="0"/>
              <a:t>) = 0 + 0.9 × </a:t>
            </a:r>
            <a:r>
              <a:rPr lang="fr-FR" sz="1600" dirty="0">
                <a:solidFill>
                  <a:srgbClr val="FF0000"/>
                </a:solidFill>
              </a:rPr>
              <a:t>V(S1</a:t>
            </a:r>
            <a:r>
              <a:rPr lang="fr-FR" sz="1600" dirty="0" smtClean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fr-FR" sz="1800" b="1" dirty="0"/>
              <a:t>Q(S2, ↑) : mur (impossible</a:t>
            </a:r>
            <a:r>
              <a:rPr lang="fr-FR" sz="1800" b="1" dirty="0" smtClean="0"/>
              <a:t>)</a:t>
            </a:r>
          </a:p>
          <a:p>
            <a:pPr lvl="1"/>
            <a:r>
              <a:rPr lang="fr-FR" sz="1800" b="1" dirty="0" smtClean="0"/>
              <a:t>Q(S2</a:t>
            </a:r>
            <a:r>
              <a:rPr lang="fr-FR" sz="1800" b="1" dirty="0"/>
              <a:t>, ↓) : aller vers S6</a:t>
            </a:r>
          </a:p>
          <a:p>
            <a:pPr lvl="2"/>
            <a:r>
              <a:rPr lang="fr-FR" sz="1600" dirty="0"/>
              <a:t>Q(S2, ↓) = 0 + 0.9 × </a:t>
            </a:r>
            <a:r>
              <a:rPr lang="fr-FR" sz="1600" dirty="0">
                <a:solidFill>
                  <a:srgbClr val="FF0000"/>
                </a:solidFill>
              </a:rPr>
              <a:t>V(S6</a:t>
            </a:r>
            <a:r>
              <a:rPr lang="fr-FR" sz="1600" dirty="0" smtClean="0">
                <a:solidFill>
                  <a:srgbClr val="FF0000"/>
                </a:solidFill>
              </a:rPr>
              <a:t>)</a:t>
            </a:r>
            <a:endParaRPr lang="fr-FR" sz="1600" dirty="0">
              <a:solidFill>
                <a:srgbClr val="FF0000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17</a:t>
            </a:fld>
            <a:endParaRPr lang="fr-FR" alt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1775520" y="2041103"/>
                <a:ext cx="352662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2041103"/>
                <a:ext cx="3526628" cy="307777"/>
              </a:xfrm>
              <a:prstGeom prst="rect">
                <a:avLst/>
              </a:prstGeom>
              <a:blipFill>
                <a:blip r:embed="rId2"/>
                <a:stretch>
                  <a:fillRect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space réservé du contenu 2"/>
          <p:cNvSpPr txBox="1">
            <a:spLocks/>
          </p:cNvSpPr>
          <p:nvPr/>
        </p:nvSpPr>
        <p:spPr bwMode="auto">
          <a:xfrm>
            <a:off x="5069452" y="3356992"/>
            <a:ext cx="541903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fr-FR" sz="2000" b="1" dirty="0" smtClean="0"/>
              <a:t>S6 </a:t>
            </a:r>
            <a:r>
              <a:rPr lang="fr-FR" sz="2000" b="1" dirty="0"/>
              <a:t>(voisin de S7 et S2)</a:t>
            </a:r>
          </a:p>
          <a:p>
            <a:pPr lvl="1"/>
            <a:r>
              <a:rPr lang="fr-FR" sz="1800" b="1" dirty="0" smtClean="0"/>
              <a:t>Actions </a:t>
            </a:r>
            <a:r>
              <a:rPr lang="fr-FR" sz="1800" b="1" dirty="0"/>
              <a:t>possibles</a:t>
            </a:r>
            <a:r>
              <a:rPr lang="fr-FR" sz="1800" dirty="0"/>
              <a:t> : ↑, ↓, ←, →</a:t>
            </a:r>
          </a:p>
          <a:p>
            <a:pPr lvl="1"/>
            <a:r>
              <a:rPr lang="fr-FR" sz="1800" b="1" dirty="0"/>
              <a:t>Q(S6, →) : aller vers </a:t>
            </a:r>
            <a:r>
              <a:rPr lang="fr-FR" sz="1800" b="1" dirty="0" smtClean="0"/>
              <a:t>S7</a:t>
            </a:r>
            <a:endParaRPr lang="fr-FR" sz="2000" b="1" dirty="0" smtClean="0"/>
          </a:p>
          <a:p>
            <a:pPr lvl="2"/>
            <a:r>
              <a:rPr lang="fr-FR" sz="1600" dirty="0"/>
              <a:t>Q(S6, →) = 5 + 0.9 × </a:t>
            </a:r>
            <a:r>
              <a:rPr lang="fr-FR" sz="1600" dirty="0" smtClean="0"/>
              <a:t>0 = 5</a:t>
            </a:r>
          </a:p>
          <a:p>
            <a:pPr lvl="1"/>
            <a:r>
              <a:rPr lang="fr-FR" sz="1800" b="1" dirty="0"/>
              <a:t>Q(S6, ←) : aller vers S5 (piège</a:t>
            </a:r>
            <a:r>
              <a:rPr lang="fr-FR" sz="1800" b="1" dirty="0" smtClean="0"/>
              <a:t>!)</a:t>
            </a:r>
          </a:p>
          <a:p>
            <a:pPr lvl="2"/>
            <a:r>
              <a:rPr lang="fr-FR" sz="1600" kern="0" dirty="0"/>
              <a:t>Q(S6, ←) = -10 + 0.9 × </a:t>
            </a:r>
            <a:r>
              <a:rPr lang="fr-FR" sz="1600" kern="0" dirty="0" smtClean="0"/>
              <a:t>0 = -10</a:t>
            </a:r>
          </a:p>
          <a:p>
            <a:pPr lvl="1"/>
            <a:r>
              <a:rPr lang="fr-FR" sz="1800" b="1" dirty="0"/>
              <a:t>Q(S6, ↑) : aller vers </a:t>
            </a:r>
            <a:r>
              <a:rPr lang="fr-FR" sz="1800" b="1" dirty="0" smtClean="0"/>
              <a:t>S2</a:t>
            </a:r>
          </a:p>
          <a:p>
            <a:pPr lvl="2"/>
            <a:r>
              <a:rPr lang="fr-FR" sz="1600" dirty="0"/>
              <a:t>Q(S6, ↑) = 0 + 0.9 × </a:t>
            </a:r>
            <a:r>
              <a:rPr lang="fr-FR" sz="1600" b="1" dirty="0">
                <a:solidFill>
                  <a:srgbClr val="00B050"/>
                </a:solidFill>
              </a:rPr>
              <a:t>V(S2)</a:t>
            </a:r>
            <a:r>
              <a:rPr lang="fr-FR" sz="1600" dirty="0"/>
              <a:t> = 9</a:t>
            </a:r>
          </a:p>
          <a:p>
            <a:pPr lvl="1"/>
            <a:r>
              <a:rPr lang="fr-FR" sz="1800" b="1" dirty="0" smtClean="0"/>
              <a:t>Q(S6</a:t>
            </a:r>
            <a:r>
              <a:rPr lang="fr-FR" sz="1800" b="1" dirty="0"/>
              <a:t>, ↓) : mur (impossible)</a:t>
            </a:r>
          </a:p>
          <a:p>
            <a:pPr lvl="1"/>
            <a:endParaRPr lang="fr-FR" sz="2000" b="1" dirty="0" smtClean="0"/>
          </a:p>
          <a:p>
            <a:endParaRPr lang="fr-FR" sz="2400" kern="0" dirty="0"/>
          </a:p>
          <a:p>
            <a:endParaRPr lang="fr-FR" sz="2400" kern="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060085"/>
              </p:ext>
            </p:extLst>
          </p:nvPr>
        </p:nvGraphicFramePr>
        <p:xfrm>
          <a:off x="6816080" y="1249015"/>
          <a:ext cx="3168352" cy="15841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176" y="2341128"/>
            <a:ext cx="595672" cy="4667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68" y="1567507"/>
            <a:ext cx="369107" cy="40158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360" y="2341128"/>
            <a:ext cx="513123" cy="43504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104" y="2400038"/>
            <a:ext cx="434386" cy="394095"/>
          </a:xfrm>
          <a:prstGeom prst="rect">
            <a:avLst/>
          </a:prstGeom>
        </p:spPr>
      </p:pic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240165"/>
              </p:ext>
            </p:extLst>
          </p:nvPr>
        </p:nvGraphicFramePr>
        <p:xfrm>
          <a:off x="9768408" y="4077072"/>
          <a:ext cx="1958008" cy="1676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911406">
                  <a:extLst>
                    <a:ext uri="{9D8B030D-6E8A-4147-A177-3AD203B41FA5}">
                      <a16:colId xmlns:a16="http://schemas.microsoft.com/office/drawing/2014/main" val="50437329"/>
                    </a:ext>
                  </a:extLst>
                </a:gridCol>
                <a:gridCol w="1046602">
                  <a:extLst>
                    <a:ext uri="{9D8B030D-6E8A-4147-A177-3AD203B41FA5}">
                      <a16:colId xmlns:a16="http://schemas.microsoft.com/office/drawing/2014/main" val="19211773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Q(S6, 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055222"/>
                  </a:ext>
                </a:extLst>
              </a:tr>
              <a:tr h="282312">
                <a:tc>
                  <a:txBody>
                    <a:bodyPr/>
                    <a:lstStyle/>
                    <a:p>
                      <a:r>
                        <a:rPr lang="fr-FR" sz="1600" dirty="0"/>
                        <a:t>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673040"/>
                  </a:ext>
                </a:extLst>
              </a:tr>
              <a:tr h="276592">
                <a:tc>
                  <a:txBody>
                    <a:bodyPr/>
                    <a:lstStyle/>
                    <a:p>
                      <a:r>
                        <a:rPr lang="fr-FR" sz="1600"/>
                        <a:t>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7339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↑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lain" startAt="9"/>
                      </a:pPr>
                      <a:r>
                        <a:rPr lang="fr-FR" sz="1600" dirty="0" smtClean="0"/>
                        <a:t>V(6)</a:t>
                      </a:r>
                      <a:endParaRPr lang="fr-FR" sz="16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395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-∞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9223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790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5406" y="3068960"/>
            <a:ext cx="5207435" cy="3312368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Calcul complet de Q(</a:t>
            </a:r>
            <a:r>
              <a:rPr lang="fr-FR" sz="2000" b="1" dirty="0" err="1">
                <a:solidFill>
                  <a:srgbClr val="FF0000"/>
                </a:solidFill>
              </a:rPr>
              <a:t>s,a</a:t>
            </a:r>
            <a:r>
              <a:rPr lang="fr-FR" sz="20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fr-FR" sz="2000" b="1" dirty="0"/>
              <a:t>S1 (entre S0 et S2)</a:t>
            </a:r>
          </a:p>
          <a:p>
            <a:pPr lvl="1"/>
            <a:r>
              <a:rPr lang="fr-FR" sz="1800" dirty="0"/>
              <a:t>Actions possibles : ↑, ↓, ←, →</a:t>
            </a:r>
          </a:p>
          <a:p>
            <a:pPr lvl="1"/>
            <a:r>
              <a:rPr lang="fr-FR" sz="1800" b="1" dirty="0"/>
              <a:t>Q(S1, →) : aller vers </a:t>
            </a:r>
            <a:r>
              <a:rPr lang="fr-FR" sz="1800" b="1" dirty="0" smtClean="0"/>
              <a:t>S2</a:t>
            </a:r>
          </a:p>
          <a:p>
            <a:pPr lvl="2"/>
            <a:r>
              <a:rPr lang="fr-FR" sz="1600" dirty="0"/>
              <a:t>Q(S1, →) = 0 + 0.9 × V(S2</a:t>
            </a:r>
            <a:r>
              <a:rPr lang="fr-FR" sz="1600" dirty="0" smtClean="0"/>
              <a:t>) = 9</a:t>
            </a:r>
          </a:p>
          <a:p>
            <a:pPr lvl="1"/>
            <a:r>
              <a:rPr lang="fr-FR" sz="1800" b="1" dirty="0" smtClean="0"/>
              <a:t>Q(S1, ←) : aller vers S0</a:t>
            </a:r>
          </a:p>
          <a:p>
            <a:pPr lvl="2"/>
            <a:r>
              <a:rPr lang="fr-FR" sz="1600" dirty="0" smtClean="0"/>
              <a:t>Q(S1, ←) = 0 + 0.9 × </a:t>
            </a:r>
            <a:r>
              <a:rPr lang="fr-FR" sz="1600" dirty="0" smtClean="0">
                <a:solidFill>
                  <a:srgbClr val="FF0000"/>
                </a:solidFill>
              </a:rPr>
              <a:t>V(S0)</a:t>
            </a:r>
          </a:p>
          <a:p>
            <a:pPr lvl="1"/>
            <a:r>
              <a:rPr lang="fr-FR" sz="1800" b="1" dirty="0" smtClean="0"/>
              <a:t>Q(S1</a:t>
            </a:r>
            <a:r>
              <a:rPr lang="fr-FR" sz="1800" b="1" dirty="0"/>
              <a:t>, ↑) </a:t>
            </a:r>
            <a:r>
              <a:rPr lang="fr-FR" sz="1800" b="1" dirty="0" smtClean="0"/>
              <a:t>: mur</a:t>
            </a:r>
          </a:p>
          <a:p>
            <a:pPr lvl="1"/>
            <a:r>
              <a:rPr lang="fr-FR" sz="1800" b="1" dirty="0"/>
              <a:t>Q(S1, ↓) : aller vers S5 (piège</a:t>
            </a:r>
            <a:r>
              <a:rPr lang="fr-FR" sz="1800" b="1" dirty="0" smtClean="0"/>
              <a:t>!)</a:t>
            </a:r>
          </a:p>
          <a:p>
            <a:pPr lvl="2"/>
            <a:r>
              <a:rPr lang="fr-FR" sz="1600" dirty="0"/>
              <a:t>Q(S1, ↓) = -10 + 0.9 × </a:t>
            </a:r>
            <a:r>
              <a:rPr lang="fr-FR" sz="1600" dirty="0" smtClean="0"/>
              <a:t>0 = </a:t>
            </a:r>
            <a:r>
              <a:rPr lang="fr-FR" sz="1600" dirty="0"/>
              <a:t>-</a:t>
            </a:r>
            <a:r>
              <a:rPr lang="fr-FR" sz="1600" dirty="0" smtClean="0"/>
              <a:t>10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18</a:t>
            </a:fld>
            <a:endParaRPr lang="fr-FR" altLang="fr-FR" dirty="0"/>
          </a:p>
        </p:txBody>
      </p:sp>
      <p:sp>
        <p:nvSpPr>
          <p:cNvPr id="8" name="Espace réservé du contenu 2"/>
          <p:cNvSpPr txBox="1">
            <a:spLocks/>
          </p:cNvSpPr>
          <p:nvPr/>
        </p:nvSpPr>
        <p:spPr bwMode="auto">
          <a:xfrm>
            <a:off x="5591944" y="3833664"/>
            <a:ext cx="5419036" cy="2414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fr-FR" sz="2000" b="1" dirty="0"/>
              <a:t>S4 (point de départ)</a:t>
            </a:r>
          </a:p>
          <a:p>
            <a:pPr lvl="1"/>
            <a:r>
              <a:rPr lang="fr-FR" sz="1800" b="1" dirty="0"/>
              <a:t>Actions possibles</a:t>
            </a:r>
            <a:r>
              <a:rPr lang="fr-FR" sz="1800" dirty="0"/>
              <a:t> : ↑, →</a:t>
            </a:r>
          </a:p>
          <a:p>
            <a:pPr lvl="1"/>
            <a:r>
              <a:rPr lang="fr-FR" sz="1800" b="1" dirty="0"/>
              <a:t>Q(S4, ↑) : aller vers </a:t>
            </a:r>
            <a:r>
              <a:rPr lang="fr-FR" sz="1800" b="1" dirty="0" smtClean="0"/>
              <a:t>S0</a:t>
            </a:r>
          </a:p>
          <a:p>
            <a:pPr lvl="2"/>
            <a:r>
              <a:rPr lang="fr-FR" sz="1600" dirty="0"/>
              <a:t>Q(S4, ↑) = 0 + 0.9 × V(S0</a:t>
            </a:r>
            <a:r>
              <a:rPr lang="fr-FR" sz="1600" dirty="0" smtClean="0"/>
              <a:t>)</a:t>
            </a:r>
          </a:p>
          <a:p>
            <a:pPr lvl="2"/>
            <a:r>
              <a:rPr lang="fr-FR" sz="1600" dirty="0"/>
              <a:t>Si V(S0) = 8.1 </a:t>
            </a:r>
            <a:r>
              <a:rPr lang="fr-FR" sz="1600" dirty="0" smtClean="0"/>
              <a:t>alors </a:t>
            </a:r>
            <a:r>
              <a:rPr lang="fr-FR" sz="1600" dirty="0"/>
              <a:t>Q(S4, ↑) </a:t>
            </a:r>
            <a:r>
              <a:rPr lang="fr-FR" sz="1600" b="1" dirty="0" smtClean="0"/>
              <a:t>= 7.29</a:t>
            </a:r>
          </a:p>
          <a:p>
            <a:pPr lvl="1"/>
            <a:r>
              <a:rPr lang="fr-FR" sz="1800" dirty="0"/>
              <a:t>Q(S4, →) : aller vers S5 (piège</a:t>
            </a:r>
            <a:r>
              <a:rPr lang="fr-FR" sz="1800" dirty="0" smtClean="0"/>
              <a:t>!)</a:t>
            </a:r>
          </a:p>
          <a:p>
            <a:pPr lvl="1"/>
            <a:r>
              <a:rPr lang="fr-FR" sz="1800" dirty="0"/>
              <a:t>Q(S4, ←) et Q(S4, ↓) : murs</a:t>
            </a:r>
            <a:endParaRPr lang="fr-FR" sz="1800" b="1" dirty="0"/>
          </a:p>
          <a:p>
            <a:pPr marL="457200" lvl="1" indent="0">
              <a:buNone/>
            </a:pPr>
            <a:endParaRPr lang="fr-FR" sz="1800" b="1" dirty="0"/>
          </a:p>
          <a:p>
            <a:pPr lvl="1"/>
            <a:endParaRPr lang="fr-FR" sz="2000" b="1" dirty="0" smtClean="0"/>
          </a:p>
          <a:p>
            <a:endParaRPr lang="fr-FR" sz="2400" kern="0" dirty="0"/>
          </a:p>
          <a:p>
            <a:endParaRPr lang="fr-FR" sz="2400" kern="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37362"/>
              </p:ext>
            </p:extLst>
          </p:nvPr>
        </p:nvGraphicFramePr>
        <p:xfrm>
          <a:off x="726836" y="1268760"/>
          <a:ext cx="3168352" cy="1584176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S2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S3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S5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932" y="2360873"/>
            <a:ext cx="595672" cy="46672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124" y="1587252"/>
            <a:ext cx="369107" cy="401588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116" y="2360873"/>
            <a:ext cx="513123" cy="435040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860" y="2419783"/>
            <a:ext cx="434386" cy="394095"/>
          </a:xfrm>
          <a:prstGeom prst="rect">
            <a:avLst/>
          </a:prstGeom>
        </p:spPr>
      </p:pic>
      <p:sp>
        <p:nvSpPr>
          <p:cNvPr id="14" name="Espace réservé du contenu 2"/>
          <p:cNvSpPr txBox="1">
            <a:spLocks/>
          </p:cNvSpPr>
          <p:nvPr/>
        </p:nvSpPr>
        <p:spPr bwMode="auto">
          <a:xfrm>
            <a:off x="5591944" y="638808"/>
            <a:ext cx="5207435" cy="270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fr-FR" sz="2000" b="1" kern="0" dirty="0" smtClean="0"/>
              <a:t>S0 (coin supérieur gauche)</a:t>
            </a:r>
          </a:p>
          <a:p>
            <a:pPr lvl="1"/>
            <a:r>
              <a:rPr lang="fr-FR" sz="1800" kern="0" dirty="0" smtClean="0"/>
              <a:t>Actions possibles : ↓, →</a:t>
            </a:r>
          </a:p>
          <a:p>
            <a:pPr lvl="1"/>
            <a:r>
              <a:rPr lang="fr-FR" sz="1800" b="1" kern="0" dirty="0" smtClean="0"/>
              <a:t>Q(S0, →) : aller vers S1</a:t>
            </a:r>
          </a:p>
          <a:p>
            <a:pPr lvl="2"/>
            <a:r>
              <a:rPr lang="fr-FR" sz="1600" kern="0" dirty="0" smtClean="0"/>
              <a:t>Q(S0, →) = 0 + 0.9 × V(S1)</a:t>
            </a:r>
          </a:p>
          <a:p>
            <a:pPr lvl="2"/>
            <a:r>
              <a:rPr lang="fr-FR" sz="1600" kern="0" dirty="0" smtClean="0"/>
              <a:t>Q(S0, →) = 0 + 0.9 × 9 = 8.1</a:t>
            </a:r>
          </a:p>
          <a:p>
            <a:pPr lvl="1"/>
            <a:r>
              <a:rPr lang="fr-FR" sz="1800" b="1" kern="0" dirty="0" smtClean="0"/>
              <a:t>Q(S0, ↓) : aller vers S4</a:t>
            </a:r>
          </a:p>
          <a:p>
            <a:pPr lvl="2"/>
            <a:r>
              <a:rPr lang="fr-FR" sz="1600" kern="0" dirty="0" smtClean="0"/>
              <a:t>Q(S0, ↓) = 0 + 0.9 × V(S4)</a:t>
            </a:r>
          </a:p>
          <a:p>
            <a:pPr lvl="1"/>
            <a:r>
              <a:rPr lang="fr-FR" sz="1800" kern="0" dirty="0" smtClean="0"/>
              <a:t>Q(S0, ←) et Q(S0, ↑) : murs</a:t>
            </a:r>
            <a:endParaRPr lang="fr-FR" sz="1800" b="1" kern="0" dirty="0" smtClean="0"/>
          </a:p>
          <a:p>
            <a:endParaRPr lang="fr-FR" sz="2000" b="1" kern="0" dirty="0"/>
          </a:p>
        </p:txBody>
      </p: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028666"/>
              </p:ext>
            </p:extLst>
          </p:nvPr>
        </p:nvGraphicFramePr>
        <p:xfrm>
          <a:off x="9515706" y="3264768"/>
          <a:ext cx="2268925" cy="1676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046272">
                  <a:extLst>
                    <a:ext uri="{9D8B030D-6E8A-4147-A177-3AD203B41FA5}">
                      <a16:colId xmlns:a16="http://schemas.microsoft.com/office/drawing/2014/main" val="1283183917"/>
                    </a:ext>
                  </a:extLst>
                </a:gridCol>
                <a:gridCol w="1222653">
                  <a:extLst>
                    <a:ext uri="{9D8B030D-6E8A-4147-A177-3AD203B41FA5}">
                      <a16:colId xmlns:a16="http://schemas.microsoft.com/office/drawing/2014/main" val="673098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600" dirty="0"/>
                        <a:t>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Q(S4, 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521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↑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7.29</a:t>
                      </a:r>
                      <a:r>
                        <a:rPr lang="fr-FR" sz="1600" baseline="0" dirty="0" smtClean="0"/>
                        <a:t> </a:t>
                      </a:r>
                      <a:r>
                        <a:rPr lang="fr-FR" sz="1600" dirty="0" smtClean="0"/>
                        <a:t>V(S4)</a:t>
                      </a:r>
                      <a:endParaRPr lang="fr-FR" sz="1600" dirty="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431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-10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785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/>
                        <a:t>-∞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311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1600"/>
                        <a:t>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sz="1600" dirty="0"/>
                        <a:t>-∞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920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2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49015"/>
            <a:ext cx="5207435" cy="5276329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Calcul complet de Q(</a:t>
            </a:r>
            <a:r>
              <a:rPr lang="fr-FR" sz="2000" b="1" dirty="0" err="1">
                <a:solidFill>
                  <a:srgbClr val="FF0000"/>
                </a:solidFill>
              </a:rPr>
              <a:t>s,a</a:t>
            </a:r>
            <a:r>
              <a:rPr lang="fr-FR" sz="2000" b="1" dirty="0" smtClean="0">
                <a:solidFill>
                  <a:srgbClr val="FF0000"/>
                </a:solidFill>
              </a:rPr>
              <a:t>)</a:t>
            </a:r>
          </a:p>
          <a:p>
            <a:r>
              <a:rPr lang="fr-FR" sz="2000" b="1" dirty="0"/>
              <a:t>Retour sur S0 et S1</a:t>
            </a:r>
          </a:p>
          <a:p>
            <a:r>
              <a:rPr lang="fr-FR" sz="2000" dirty="0"/>
              <a:t>Maintenant qu'on connaît V(S4) = 7.29 :</a:t>
            </a:r>
          </a:p>
          <a:p>
            <a:r>
              <a:rPr lang="fr-FR" sz="2000" b="1" dirty="0"/>
              <a:t>S0 complet </a:t>
            </a:r>
            <a:r>
              <a:rPr lang="fr-FR" sz="2000" b="1" dirty="0" smtClean="0"/>
              <a:t>:</a:t>
            </a:r>
          </a:p>
          <a:p>
            <a:pPr lvl="1"/>
            <a:r>
              <a:rPr lang="fr-FR" sz="1600" dirty="0"/>
              <a:t>Q(S0, →) = </a:t>
            </a:r>
            <a:r>
              <a:rPr lang="fr-FR" sz="1600" dirty="0" smtClean="0"/>
              <a:t>8.1</a:t>
            </a:r>
          </a:p>
          <a:p>
            <a:pPr lvl="1"/>
            <a:r>
              <a:rPr lang="fr-FR" sz="1600" dirty="0" smtClean="0"/>
              <a:t>Q(S0</a:t>
            </a:r>
            <a:r>
              <a:rPr lang="fr-FR" sz="1600" dirty="0"/>
              <a:t>, ↓) = 0 + 0.9 × 7.29 = </a:t>
            </a:r>
            <a:r>
              <a:rPr lang="fr-FR" sz="1600" dirty="0" smtClean="0"/>
              <a:t>6.56</a:t>
            </a:r>
          </a:p>
          <a:p>
            <a:r>
              <a:rPr lang="fr-FR" sz="2000" b="1" dirty="0"/>
              <a:t>S1 complet </a:t>
            </a:r>
            <a:r>
              <a:rPr lang="fr-FR" sz="2000" b="1" dirty="0" smtClean="0"/>
              <a:t>:</a:t>
            </a:r>
          </a:p>
          <a:p>
            <a:pPr lvl="1"/>
            <a:r>
              <a:rPr lang="fr-FR" sz="1600" dirty="0"/>
              <a:t>Q(S1, →) = </a:t>
            </a:r>
            <a:r>
              <a:rPr lang="fr-FR" sz="1600" dirty="0" smtClean="0"/>
              <a:t>9</a:t>
            </a:r>
          </a:p>
          <a:p>
            <a:pPr lvl="1"/>
            <a:r>
              <a:rPr lang="fr-FR" sz="1600" dirty="0" smtClean="0"/>
              <a:t>Q(S1</a:t>
            </a:r>
            <a:r>
              <a:rPr lang="fr-FR" sz="1600" dirty="0"/>
              <a:t>, ←) = 0 + 0.9 × 8.1 = </a:t>
            </a:r>
            <a:r>
              <a:rPr lang="fr-FR" sz="1600" dirty="0" smtClean="0"/>
              <a:t>7.29</a:t>
            </a:r>
          </a:p>
          <a:p>
            <a:pPr lvl="1"/>
            <a:r>
              <a:rPr lang="fr-FR" sz="1600" dirty="0" smtClean="0"/>
              <a:t>Q(S1</a:t>
            </a:r>
            <a:r>
              <a:rPr lang="fr-FR" sz="1600" dirty="0"/>
              <a:t>, ↓) = -</a:t>
            </a:r>
            <a:r>
              <a:rPr lang="fr-FR" sz="1600" dirty="0" smtClean="0"/>
              <a:t>10</a:t>
            </a:r>
          </a:p>
          <a:p>
            <a:r>
              <a:rPr lang="fr-FR" sz="2000" b="1" dirty="0"/>
              <a:t>S2 complet </a:t>
            </a:r>
            <a:r>
              <a:rPr lang="fr-FR" sz="2000" b="1" dirty="0" smtClean="0"/>
              <a:t>:</a:t>
            </a:r>
          </a:p>
          <a:p>
            <a:pPr lvl="1"/>
            <a:r>
              <a:rPr lang="fr-FR" sz="1600" dirty="0"/>
              <a:t>Q(S2, →) = 10 </a:t>
            </a:r>
            <a:endParaRPr lang="fr-FR" sz="1600" dirty="0" smtClean="0"/>
          </a:p>
          <a:p>
            <a:pPr lvl="1"/>
            <a:r>
              <a:rPr lang="fr-FR" sz="1600" dirty="0" smtClean="0"/>
              <a:t>Q(S2</a:t>
            </a:r>
            <a:r>
              <a:rPr lang="fr-FR" sz="1600" dirty="0"/>
              <a:t>, ←) = 0 + 0.9 × 9 = 8.1 </a:t>
            </a:r>
            <a:endParaRPr lang="fr-FR" sz="1600" dirty="0" smtClean="0"/>
          </a:p>
          <a:p>
            <a:pPr lvl="1"/>
            <a:r>
              <a:rPr lang="fr-FR" sz="1600" dirty="0" smtClean="0"/>
              <a:t>Q(S2</a:t>
            </a:r>
            <a:r>
              <a:rPr lang="fr-FR" sz="1600" dirty="0"/>
              <a:t>, ↓) = 0 + 0.9 × 9 = 8.1</a:t>
            </a:r>
            <a:endParaRPr lang="fr-FR" sz="16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19</a:t>
            </a:fld>
            <a:endParaRPr lang="fr-FR" altLang="fr-FR" dirty="0"/>
          </a:p>
        </p:txBody>
      </p:sp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256757"/>
              </p:ext>
            </p:extLst>
          </p:nvPr>
        </p:nvGraphicFramePr>
        <p:xfrm>
          <a:off x="5231904" y="2492895"/>
          <a:ext cx="6264696" cy="3266512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566174">
                  <a:extLst>
                    <a:ext uri="{9D8B030D-6E8A-4147-A177-3AD203B41FA5}">
                      <a16:colId xmlns:a16="http://schemas.microsoft.com/office/drawing/2014/main" val="2881116896"/>
                    </a:ext>
                  </a:extLst>
                </a:gridCol>
                <a:gridCol w="1566174">
                  <a:extLst>
                    <a:ext uri="{9D8B030D-6E8A-4147-A177-3AD203B41FA5}">
                      <a16:colId xmlns:a16="http://schemas.microsoft.com/office/drawing/2014/main" val="2529106227"/>
                    </a:ext>
                  </a:extLst>
                </a:gridCol>
                <a:gridCol w="1566174">
                  <a:extLst>
                    <a:ext uri="{9D8B030D-6E8A-4147-A177-3AD203B41FA5}">
                      <a16:colId xmlns:a16="http://schemas.microsoft.com/office/drawing/2014/main" val="866966548"/>
                    </a:ext>
                  </a:extLst>
                </a:gridCol>
                <a:gridCol w="1566174">
                  <a:extLst>
                    <a:ext uri="{9D8B030D-6E8A-4147-A177-3AD203B41FA5}">
                      <a16:colId xmlns:a16="http://schemas.microsoft.com/office/drawing/2014/main" val="1355920339"/>
                    </a:ext>
                  </a:extLst>
                </a:gridCol>
              </a:tblGrid>
              <a:tr h="16332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000" dirty="0" smtClean="0"/>
                        <a:t>Q(→)=8,1</a:t>
                      </a:r>
                      <a:endParaRPr lang="fr-FR" sz="2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Q(↓)=6,56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Q(→)=9</a:t>
                      </a:r>
                      <a:endParaRPr lang="fr-F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Q(↓)=-10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Q(→)=10</a:t>
                      </a:r>
                      <a:endParaRPr lang="fr-F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Q(↓)=8,1</a:t>
                      </a:r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+10</a:t>
                      </a:r>
                    </a:p>
                    <a:p>
                      <a:pPr marL="0" algn="ctr" defTabSz="914400" rtl="0" eaLnBrk="1" latinLnBrk="0" hangingPunct="1"/>
                      <a:endParaRPr lang="fr-F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2202401"/>
                  </a:ext>
                </a:extLst>
              </a:tr>
              <a:tr h="163325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→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S4 </a:t>
                      </a:r>
                      <a:r>
                        <a:rPr lang="fr-FR" sz="1800" dirty="0" smtClean="0"/>
                        <a:t>↑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-10</a:t>
                      </a:r>
                    </a:p>
                    <a:p>
                      <a:pPr marL="0" algn="ctr" defTabSz="914400" rtl="0" eaLnBrk="1" latinLnBrk="0" hangingPunct="1"/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1800" dirty="0" smtClean="0"/>
                        <a:t>→</a:t>
                      </a:r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fr-FR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S6 </a:t>
                      </a:r>
                      <a:r>
                        <a:rPr lang="fr-FR" sz="1800" dirty="0" smtClean="0"/>
                        <a:t>↑</a:t>
                      </a:r>
                      <a:endParaRPr lang="fr-FR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fr-FR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294425"/>
                  </a:ext>
                </a:extLst>
              </a:tr>
            </a:tbl>
          </a:graphicData>
        </a:graphic>
      </p:graphicFrame>
      <p:sp>
        <p:nvSpPr>
          <p:cNvPr id="19" name="Ellipse 18"/>
          <p:cNvSpPr/>
          <p:nvPr/>
        </p:nvSpPr>
        <p:spPr>
          <a:xfrm>
            <a:off x="5375920" y="2564904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S0</a:t>
            </a:r>
            <a:endParaRPr lang="fr-FR" dirty="0"/>
          </a:p>
        </p:txBody>
      </p:sp>
      <p:sp>
        <p:nvSpPr>
          <p:cNvPr id="20" name="Ellipse 19"/>
          <p:cNvSpPr/>
          <p:nvPr/>
        </p:nvSpPr>
        <p:spPr>
          <a:xfrm>
            <a:off x="6888088" y="2591200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S1</a:t>
            </a:r>
            <a:endParaRPr lang="fr-FR" dirty="0"/>
          </a:p>
        </p:txBody>
      </p:sp>
      <p:sp>
        <p:nvSpPr>
          <p:cNvPr id="21" name="Ellipse 20"/>
          <p:cNvSpPr/>
          <p:nvPr/>
        </p:nvSpPr>
        <p:spPr>
          <a:xfrm>
            <a:off x="8449568" y="2601496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S2</a:t>
            </a:r>
            <a:endParaRPr lang="fr-FR" dirty="0"/>
          </a:p>
        </p:txBody>
      </p:sp>
      <p:sp>
        <p:nvSpPr>
          <p:cNvPr id="22" name="Ellipse 21"/>
          <p:cNvSpPr/>
          <p:nvPr/>
        </p:nvSpPr>
        <p:spPr>
          <a:xfrm>
            <a:off x="10020696" y="2591200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S3</a:t>
            </a:r>
            <a:endParaRPr lang="fr-FR" dirty="0"/>
          </a:p>
        </p:txBody>
      </p:sp>
      <p:sp>
        <p:nvSpPr>
          <p:cNvPr id="23" name="Ellipse 22"/>
          <p:cNvSpPr/>
          <p:nvPr/>
        </p:nvSpPr>
        <p:spPr>
          <a:xfrm>
            <a:off x="10024520" y="4267128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S7</a:t>
            </a:r>
            <a:endParaRPr lang="fr-FR" dirty="0"/>
          </a:p>
        </p:txBody>
      </p:sp>
      <p:sp>
        <p:nvSpPr>
          <p:cNvPr id="24" name="Ellipse 23"/>
          <p:cNvSpPr/>
          <p:nvPr/>
        </p:nvSpPr>
        <p:spPr>
          <a:xfrm>
            <a:off x="8449568" y="4277424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S6</a:t>
            </a:r>
            <a:endParaRPr lang="fr-FR" dirty="0"/>
          </a:p>
        </p:txBody>
      </p:sp>
      <p:sp>
        <p:nvSpPr>
          <p:cNvPr id="25" name="Ellipse 24"/>
          <p:cNvSpPr/>
          <p:nvPr/>
        </p:nvSpPr>
        <p:spPr>
          <a:xfrm>
            <a:off x="6884264" y="4277424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S5</a:t>
            </a:r>
            <a:endParaRPr lang="fr-FR" dirty="0"/>
          </a:p>
        </p:txBody>
      </p:sp>
      <p:sp>
        <p:nvSpPr>
          <p:cNvPr id="26" name="Ellipse 25"/>
          <p:cNvSpPr/>
          <p:nvPr/>
        </p:nvSpPr>
        <p:spPr>
          <a:xfrm>
            <a:off x="5375920" y="4277424"/>
            <a:ext cx="576064" cy="43204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S4</a:t>
            </a:r>
            <a:endParaRPr lang="fr-FR" dirty="0"/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472" y="3121553"/>
            <a:ext cx="724354" cy="788096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942" y="4717146"/>
            <a:ext cx="1029413" cy="872765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275" y="4849745"/>
            <a:ext cx="943803" cy="739495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024" y="4126151"/>
            <a:ext cx="434386" cy="39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2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4000" dirty="0"/>
              <a:t>Exemple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49015"/>
            <a:ext cx="5414392" cy="5276329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 smtClean="0">
                <a:solidFill>
                  <a:srgbClr val="FF0000"/>
                </a:solidFill>
              </a:rPr>
              <a:t>Ce </a:t>
            </a:r>
            <a:r>
              <a:rPr lang="fr-FR" sz="2000" b="1" dirty="0">
                <a:solidFill>
                  <a:srgbClr val="FF0000"/>
                </a:solidFill>
              </a:rPr>
              <a:t>que révèlent les Q-values</a:t>
            </a:r>
          </a:p>
          <a:p>
            <a:r>
              <a:rPr lang="fr-FR" sz="2000" b="1" dirty="0" smtClean="0"/>
              <a:t>S6 </a:t>
            </a:r>
            <a:r>
              <a:rPr lang="fr-FR" sz="2000" b="1" dirty="0"/>
              <a:t>: décision contre-intuitive</a:t>
            </a:r>
          </a:p>
          <a:p>
            <a:pPr lvl="1"/>
            <a:r>
              <a:rPr lang="fr-FR" sz="1800" dirty="0"/>
              <a:t>Q(S6, →) = 5 (récompense immédiate)</a:t>
            </a:r>
          </a:p>
          <a:p>
            <a:pPr lvl="1"/>
            <a:r>
              <a:rPr lang="fr-FR" sz="1800" dirty="0"/>
              <a:t>Q(S6, ↑) = 9 (meilleur à long terme !)</a:t>
            </a:r>
          </a:p>
          <a:p>
            <a:pPr lvl="1"/>
            <a:r>
              <a:rPr lang="fr-FR" sz="1800" dirty="0"/>
              <a:t>Sans calculs, on aurait pris le +5 proche</a:t>
            </a:r>
          </a:p>
          <a:p>
            <a:r>
              <a:rPr lang="fr-FR" sz="2000" b="1" dirty="0" smtClean="0"/>
              <a:t>S4 </a:t>
            </a:r>
            <a:r>
              <a:rPr lang="fr-FR" sz="2000" b="1" dirty="0"/>
              <a:t>: éviter le danger</a:t>
            </a:r>
          </a:p>
          <a:p>
            <a:pPr lvl="1"/>
            <a:r>
              <a:rPr lang="fr-FR" sz="1800" dirty="0"/>
              <a:t>Q(S4, →) = -10 (catastrophique)</a:t>
            </a:r>
          </a:p>
          <a:p>
            <a:pPr lvl="1"/>
            <a:r>
              <a:rPr lang="fr-FR" sz="1800" dirty="0"/>
              <a:t>Q(S4, ↑) = 7.29 (sûr et profitable)</a:t>
            </a:r>
          </a:p>
          <a:p>
            <a:r>
              <a:rPr lang="fr-FR" sz="2000" b="1" dirty="0" smtClean="0"/>
              <a:t>Propagation </a:t>
            </a:r>
            <a:r>
              <a:rPr lang="fr-FR" sz="2000" b="1" dirty="0"/>
              <a:t>des valeurs</a:t>
            </a:r>
          </a:p>
          <a:p>
            <a:pPr lvl="1"/>
            <a:r>
              <a:rPr lang="fr-FR" sz="1800" dirty="0"/>
              <a:t>S0 vaut 8.1 même s'il est à 3 étapes du but</a:t>
            </a:r>
          </a:p>
          <a:p>
            <a:pPr lvl="1"/>
            <a:r>
              <a:rPr lang="fr-FR" sz="1800" dirty="0"/>
              <a:t>Chaque étape coûte un facteur 0.9</a:t>
            </a:r>
          </a:p>
          <a:p>
            <a:r>
              <a:rPr lang="fr-FR" sz="2000" b="1" dirty="0"/>
              <a:t>4. Choix à S0</a:t>
            </a:r>
          </a:p>
          <a:p>
            <a:pPr lvl="1"/>
            <a:r>
              <a:rPr lang="fr-FR" sz="1600" dirty="0"/>
              <a:t>Q(S0, →) = 8.1 vers le chemin optimal</a:t>
            </a:r>
          </a:p>
          <a:p>
            <a:pPr lvl="1"/>
            <a:r>
              <a:rPr lang="fr-FR" sz="1600" dirty="0"/>
              <a:t>Q(S0, ↓) = 6.56 vers S4 (moins bon)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20</a:t>
            </a:fld>
            <a:endParaRPr lang="fr-FR" altLang="fr-FR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6240016" y="1244556"/>
          <a:ext cx="4163788" cy="481202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94812643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77031059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1495233635"/>
                    </a:ext>
                  </a:extLst>
                </a:gridCol>
                <a:gridCol w="1643508">
                  <a:extLst>
                    <a:ext uri="{9D8B030D-6E8A-4147-A177-3AD203B41FA5}">
                      <a16:colId xmlns:a16="http://schemas.microsoft.com/office/drawing/2014/main" val="1385899699"/>
                    </a:ext>
                  </a:extLst>
                </a:gridCol>
              </a:tblGrid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État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Action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Q(s,a)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Meilleure?</a:t>
                      </a:r>
                    </a:p>
                  </a:txBody>
                  <a:tcPr marL="69396" marR="69396" marT="34698" marB="34698" anchor="ctr"/>
                </a:tc>
                <a:extLst>
                  <a:ext uri="{0D108BD9-81ED-4DB2-BD59-A6C34878D82A}">
                    <a16:rowId xmlns:a16="http://schemas.microsoft.com/office/drawing/2014/main" val="3947928465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 dirty="0"/>
                        <a:t>S0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→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8.1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✓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6329126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S0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↓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6.56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800" dirty="0"/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226200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S1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→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9.0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✓</a:t>
                      </a:r>
                    </a:p>
                  </a:txBody>
                  <a:tcPr marL="69396" marR="69396" marT="34698" marB="34698" anchor="ctr"/>
                </a:tc>
                <a:extLst>
                  <a:ext uri="{0D108BD9-81ED-4DB2-BD59-A6C34878D82A}">
                    <a16:rowId xmlns:a16="http://schemas.microsoft.com/office/drawing/2014/main" val="792041577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S1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←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7.29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endParaRPr lang="fr-FR" sz="1800"/>
                    </a:p>
                  </a:txBody>
                  <a:tcPr marL="69396" marR="69396" marT="34698" marB="34698" anchor="ctr"/>
                </a:tc>
                <a:extLst>
                  <a:ext uri="{0D108BD9-81ED-4DB2-BD59-A6C34878D82A}">
                    <a16:rowId xmlns:a16="http://schemas.microsoft.com/office/drawing/2014/main" val="1529245232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S1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↓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-10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endParaRPr lang="fr-FR" sz="1800"/>
                    </a:p>
                  </a:txBody>
                  <a:tcPr marL="69396" marR="69396" marT="34698" marB="34698" anchor="ctr"/>
                </a:tc>
                <a:extLst>
                  <a:ext uri="{0D108BD9-81ED-4DB2-BD59-A6C34878D82A}">
                    <a16:rowId xmlns:a16="http://schemas.microsoft.com/office/drawing/2014/main" val="3632349844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 dirty="0"/>
                        <a:t>S2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→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10.0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✓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363407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S2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←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8.1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800" dirty="0"/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014930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S2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↓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8.1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800" dirty="0"/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971029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S4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↑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7.29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✓</a:t>
                      </a:r>
                    </a:p>
                  </a:txBody>
                  <a:tcPr marL="69396" marR="69396" marT="34698" marB="34698" anchor="ctr"/>
                </a:tc>
                <a:extLst>
                  <a:ext uri="{0D108BD9-81ED-4DB2-BD59-A6C34878D82A}">
                    <a16:rowId xmlns:a16="http://schemas.microsoft.com/office/drawing/2014/main" val="31706484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S4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→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-10</a:t>
                      </a:r>
                    </a:p>
                  </a:txBody>
                  <a:tcPr marL="69396" marR="69396" marT="34698" marB="34698" anchor="ctr"/>
                </a:tc>
                <a:tc>
                  <a:txBody>
                    <a:bodyPr/>
                    <a:lstStyle/>
                    <a:p>
                      <a:endParaRPr lang="fr-FR" sz="1800"/>
                    </a:p>
                  </a:txBody>
                  <a:tcPr marL="69396" marR="69396" marT="34698" marB="34698" anchor="ctr"/>
                </a:tc>
                <a:extLst>
                  <a:ext uri="{0D108BD9-81ED-4DB2-BD59-A6C34878D82A}">
                    <a16:rowId xmlns:a16="http://schemas.microsoft.com/office/drawing/2014/main" val="1161906226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 dirty="0"/>
                        <a:t>S6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↑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9.0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✓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276838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S6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→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5.0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800" dirty="0"/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732251"/>
                  </a:ext>
                </a:extLst>
              </a:tr>
              <a:tr h="277586">
                <a:tc>
                  <a:txBody>
                    <a:bodyPr/>
                    <a:lstStyle/>
                    <a:p>
                      <a:r>
                        <a:rPr lang="fr-FR" sz="1800"/>
                        <a:t>S6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←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800"/>
                        <a:t>-10</a:t>
                      </a:r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1800" dirty="0"/>
                    </a:p>
                  </a:txBody>
                  <a:tcPr marL="69396" marR="69396" marT="34698" marB="34698"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24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75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4000" dirty="0" smtClean="0"/>
              <a:t>Équation de Bellman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4896544"/>
          </a:xfrm>
        </p:spPr>
        <p:txBody>
          <a:bodyPr/>
          <a:lstStyle/>
          <a:p>
            <a:r>
              <a:rPr lang="fr-FR" sz="2400" dirty="0"/>
              <a:t>Le principe de Bellman est </a:t>
            </a:r>
            <a:r>
              <a:rPr lang="fr-FR" sz="2400" b="1" dirty="0"/>
              <a:t>LA BASE</a:t>
            </a:r>
            <a:r>
              <a:rPr lang="fr-FR" sz="2400" dirty="0"/>
              <a:t> de tout l'apprentissage par renforcement. Sans le comprendre, </a:t>
            </a:r>
            <a:r>
              <a:rPr lang="fr-FR" sz="2400" dirty="0" smtClean="0"/>
              <a:t>on ne comprendras </a:t>
            </a:r>
            <a:r>
              <a:rPr lang="fr-FR" sz="2400" dirty="0"/>
              <a:t>jamais vraiment comment V et Q sont calculés</a:t>
            </a:r>
            <a:r>
              <a:rPr lang="fr-FR" sz="2400" dirty="0" smtClean="0"/>
              <a:t>.</a:t>
            </a:r>
          </a:p>
          <a:p>
            <a:r>
              <a:rPr lang="fr-FR" sz="2400" dirty="0"/>
              <a:t>Tous les calculs qu'on a faits utilisent </a:t>
            </a:r>
            <a:r>
              <a:rPr lang="fr-FR" sz="2400" b="1" dirty="0"/>
              <a:t>implicitement</a:t>
            </a:r>
            <a:r>
              <a:rPr lang="fr-FR" sz="2400" dirty="0"/>
              <a:t> l'équation de Bellman </a:t>
            </a:r>
            <a:r>
              <a:rPr lang="fr-FR" sz="2400" dirty="0" smtClean="0"/>
              <a:t>!</a:t>
            </a:r>
          </a:p>
          <a:p>
            <a:r>
              <a:rPr lang="fr-FR" sz="2400" dirty="0"/>
              <a:t>Tous les algorithmes de </a:t>
            </a:r>
            <a:r>
              <a:rPr lang="fr-FR" sz="2400" dirty="0" smtClean="0"/>
              <a:t>RL </a:t>
            </a:r>
            <a:r>
              <a:rPr lang="fr-FR" sz="2400" dirty="0"/>
              <a:t>utilisent Bellman </a:t>
            </a:r>
            <a:r>
              <a:rPr lang="fr-FR" sz="2400" dirty="0" smtClean="0"/>
              <a:t>!</a:t>
            </a:r>
          </a:p>
          <a:p>
            <a:r>
              <a:rPr lang="fr-FR" sz="2400" b="1" dirty="0"/>
              <a:t>L'idée </a:t>
            </a:r>
            <a:r>
              <a:rPr lang="fr-FR" sz="2400" b="1" dirty="0" smtClean="0"/>
              <a:t>intuitive :</a:t>
            </a:r>
            <a:endParaRPr lang="fr-FR" sz="2400" b="1" dirty="0"/>
          </a:p>
          <a:p>
            <a:pPr lvl="1"/>
            <a:r>
              <a:rPr lang="fr-FR" sz="2000" b="1" dirty="0"/>
              <a:t>"La valeur d'être dans un état aujourd'hui = la récompense immédiate + la valeur d'être dans l'état suivant (actualisée</a:t>
            </a:r>
            <a:r>
              <a:rPr lang="fr-FR" sz="2000" b="1" dirty="0" smtClean="0"/>
              <a:t>)"</a:t>
            </a:r>
          </a:p>
          <a:p>
            <a:pPr lvl="1"/>
            <a:endParaRPr lang="fr-FR" sz="2000" b="1" dirty="0" smtClean="0"/>
          </a:p>
          <a:p>
            <a:pPr marL="457200" lvl="1" indent="0">
              <a:buNone/>
            </a:pPr>
            <a:endParaRPr lang="fr-FR" sz="2000" dirty="0"/>
          </a:p>
          <a:p>
            <a:pPr lvl="1"/>
            <a:r>
              <a:rPr lang="fr-FR" sz="2000" dirty="0"/>
              <a:t>C'est une </a:t>
            </a:r>
            <a:r>
              <a:rPr lang="fr-FR" sz="2000" b="1" dirty="0"/>
              <a:t>relation récursive</a:t>
            </a:r>
            <a:r>
              <a:rPr lang="fr-FR" sz="2000" dirty="0"/>
              <a:t> : la valeur d'un état dépend de la valeur des états futurs</a:t>
            </a:r>
            <a:r>
              <a:rPr lang="fr-FR" sz="2000" dirty="0" smtClean="0"/>
              <a:t>.</a:t>
            </a:r>
          </a:p>
          <a:p>
            <a:r>
              <a:rPr lang="fr-FR" sz="2400" b="1" dirty="0" smtClean="0"/>
              <a:t>Exemple </a:t>
            </a:r>
            <a:r>
              <a:rPr lang="fr-FR" sz="2400" b="1" dirty="0"/>
              <a:t>: Planifier un voyage </a:t>
            </a:r>
          </a:p>
          <a:p>
            <a:pPr lvl="1"/>
            <a:r>
              <a:rPr lang="fr-FR" sz="2000" dirty="0" smtClean="0"/>
              <a:t>Imaginer un </a:t>
            </a:r>
            <a:r>
              <a:rPr lang="fr-FR" sz="2000" dirty="0"/>
              <a:t>voyage de </a:t>
            </a:r>
            <a:r>
              <a:rPr lang="fr-FR" sz="2000" dirty="0" smtClean="0"/>
              <a:t>Casablanca </a:t>
            </a:r>
            <a:r>
              <a:rPr lang="fr-FR" sz="2000" dirty="0"/>
              <a:t>à Tokyo avec escales </a:t>
            </a:r>
            <a:r>
              <a:rPr lang="fr-FR" sz="2000" dirty="0" smtClean="0"/>
              <a:t>:</a:t>
            </a:r>
            <a:endParaRPr lang="fr-FR" sz="20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21</a:t>
            </a:fld>
            <a:endParaRPr lang="fr-FR" alt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4725144"/>
            <a:ext cx="7079183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30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454624"/>
          </a:xfrm>
        </p:spPr>
        <p:txBody>
          <a:bodyPr/>
          <a:lstStyle/>
          <a:p>
            <a:r>
              <a:rPr lang="fr-FR" sz="2400" dirty="0"/>
              <a:t>Forme mathématique : </a:t>
            </a:r>
            <a:r>
              <a:rPr lang="fr-FR" sz="2400" b="1" dirty="0"/>
              <a:t>Équation de Bellman pour V</a:t>
            </a:r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22</a:t>
            </a:fld>
            <a:endParaRPr lang="fr-FR" alt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764" y="1943386"/>
            <a:ext cx="6068272" cy="876422"/>
          </a:xfrm>
          <a:prstGeom prst="rect">
            <a:avLst/>
          </a:prstGeom>
        </p:spPr>
      </p:pic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4000" dirty="0" smtClean="0"/>
              <a:t>Équation de Bellman</a:t>
            </a:r>
            <a:endParaRPr lang="fr-FR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au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3441868"/>
                  </p:ext>
                </p:extLst>
              </p:nvPr>
            </p:nvGraphicFramePr>
            <p:xfrm>
              <a:off x="1487488" y="3140968"/>
              <a:ext cx="9302824" cy="2960815"/>
            </p:xfrm>
            <a:graphic>
              <a:graphicData uri="http://schemas.openxmlformats.org/drawingml/2006/table">
                <a:tbl>
                  <a:tblPr>
                    <a:tableStyleId>{08FB837D-C827-4EFA-A057-4D05807E0F7C}</a:tableStyleId>
                  </a:tblPr>
                  <a:tblGrid>
                    <a:gridCol w="2514698">
                      <a:extLst>
                        <a:ext uri="{9D8B030D-6E8A-4147-A177-3AD203B41FA5}">
                          <a16:colId xmlns:a16="http://schemas.microsoft.com/office/drawing/2014/main" val="511473991"/>
                        </a:ext>
                      </a:extLst>
                    </a:gridCol>
                    <a:gridCol w="6788126">
                      <a:extLst>
                        <a:ext uri="{9D8B030D-6E8A-4147-A177-3AD203B41FA5}">
                          <a16:colId xmlns:a16="http://schemas.microsoft.com/office/drawing/2014/main" val="293284957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Élément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Signification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73147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probabilité que la politique π choisisse l’action a dans l’état 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7697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probabilité d’arriver à l’état suivant s’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576099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récompense immédiate reçue en faisant a dans 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44716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facteur d’actualisation (0 ≤ γ &lt; 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018617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fr-FR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valeur de l’état futur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7491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fr-F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fr-FR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sSup>
                                          <m:sSupPr>
                                            <m:ctrlPr>
                                              <a:rPr lang="fr-FR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fr-FR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/>
                                      <m:e/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fr-FR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moyenne pondérée sur toutes les actions et transitions possibles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29704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au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3441868"/>
                  </p:ext>
                </p:extLst>
              </p:nvPr>
            </p:nvGraphicFramePr>
            <p:xfrm>
              <a:off x="1487488" y="3140968"/>
              <a:ext cx="9302824" cy="2960815"/>
            </p:xfrm>
            <a:graphic>
              <a:graphicData uri="http://schemas.openxmlformats.org/drawingml/2006/table">
                <a:tbl>
                  <a:tblPr>
                    <a:tableStyleId>{08FB837D-C827-4EFA-A057-4D05807E0F7C}</a:tableStyleId>
                  </a:tblPr>
                  <a:tblGrid>
                    <a:gridCol w="2514698">
                      <a:extLst>
                        <a:ext uri="{9D8B030D-6E8A-4147-A177-3AD203B41FA5}">
                          <a16:colId xmlns:a16="http://schemas.microsoft.com/office/drawing/2014/main" val="511473991"/>
                        </a:ext>
                      </a:extLst>
                    </a:gridCol>
                    <a:gridCol w="6788126">
                      <a:extLst>
                        <a:ext uri="{9D8B030D-6E8A-4147-A177-3AD203B41FA5}">
                          <a16:colId xmlns:a16="http://schemas.microsoft.com/office/drawing/2014/main" val="293284957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/>
                            <a:t>Élément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Signification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73147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7" t="-108333" r="-271671" b="-6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probabilité que la politique π choisisse l’action a dans l’état 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676977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7" t="-208333" r="-271671" b="-5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probabilité d’arriver à l’état suivant s’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457609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7" t="-308333" r="-271671" b="-4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récompense immédiate reçue en faisant a dans 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447162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7" t="-408333" r="-271671" b="-3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facteur d’actualisation (0 ≤ γ &lt; 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01861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7" t="-508333" r="-271671" b="-23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valeur de l’état futur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27491000"/>
                      </a:ext>
                    </a:extLst>
                  </a:tr>
                  <a:tr h="76625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37" t="-289683" r="-271671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moyenne pondérée sur toutes les actions et transitions possibles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297041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8184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739552"/>
          </a:xfrm>
        </p:spPr>
        <p:txBody>
          <a:bodyPr/>
          <a:lstStyle/>
          <a:p>
            <a:r>
              <a:rPr lang="fr-FR" sz="4000" dirty="0"/>
              <a:t>Équation de Bellman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4763616"/>
          </a:xfrm>
        </p:spPr>
        <p:txBody>
          <a:bodyPr/>
          <a:lstStyle/>
          <a:p>
            <a:r>
              <a:rPr lang="fr-FR" sz="2400" b="1" dirty="0"/>
              <a:t>Équation de Bellman optimale pour V*(s</a:t>
            </a:r>
            <a:r>
              <a:rPr lang="fr-FR" sz="2400" b="1" dirty="0" smtClean="0"/>
              <a:t>)</a:t>
            </a:r>
          </a:p>
          <a:p>
            <a:endParaRPr lang="fr-FR" sz="2400" dirty="0" smtClean="0"/>
          </a:p>
          <a:p>
            <a:endParaRPr lang="fr-FR" sz="2400" dirty="0" smtClean="0"/>
          </a:p>
          <a:p>
            <a:pPr lvl="1"/>
            <a:r>
              <a:rPr lang="fr-FR" sz="2000" dirty="0" smtClean="0"/>
              <a:t>C'est </a:t>
            </a:r>
            <a:r>
              <a:rPr lang="fr-FR" sz="2000" dirty="0"/>
              <a:t>celle qu'on a utilisée dans nos calculs </a:t>
            </a:r>
            <a:r>
              <a:rPr lang="fr-FR" sz="2000" dirty="0" smtClean="0"/>
              <a:t>!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b="1" dirty="0"/>
              <a:t>Équation de Bellman pour Q(</a:t>
            </a:r>
            <a:r>
              <a:rPr lang="fr-FR" sz="2400" b="1" dirty="0" err="1"/>
              <a:t>s,a</a:t>
            </a:r>
            <a:r>
              <a:rPr lang="fr-FR" sz="2400" b="1" dirty="0"/>
              <a:t>)</a:t>
            </a:r>
          </a:p>
          <a:p>
            <a:endParaRPr lang="fr-FR" sz="2400" dirty="0" smtClean="0"/>
          </a:p>
          <a:p>
            <a:endParaRPr lang="fr-FR" sz="2400" dirty="0" smtClean="0"/>
          </a:p>
          <a:p>
            <a:r>
              <a:rPr lang="fr-FR" sz="2400" b="1" dirty="0"/>
              <a:t>Équation de Bellman optimale pour Q*(</a:t>
            </a:r>
            <a:r>
              <a:rPr lang="fr-FR" sz="2400" b="1" dirty="0" err="1"/>
              <a:t>s,a</a:t>
            </a:r>
            <a:r>
              <a:rPr lang="fr-FR" sz="2400" b="1" dirty="0"/>
              <a:t>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23</a:t>
            </a:fld>
            <a:endParaRPr lang="fr-FR" alt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4151784" y="2123564"/>
                <a:ext cx="43204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784" y="2123564"/>
                <a:ext cx="4320480" cy="369332"/>
              </a:xfrm>
              <a:prstGeom prst="rect">
                <a:avLst/>
              </a:prstGeom>
              <a:blipFill>
                <a:blip r:embed="rId2"/>
                <a:stretch>
                  <a:fillRect b="-377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/>
              <p:cNvSpPr txBox="1"/>
              <p:nvPr/>
            </p:nvSpPr>
            <p:spPr>
              <a:xfrm>
                <a:off x="3863752" y="4293096"/>
                <a:ext cx="446449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ZoneTexte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4293096"/>
                <a:ext cx="4464496" cy="369332"/>
              </a:xfrm>
              <a:prstGeom prst="rect">
                <a:avLst/>
              </a:prstGeom>
              <a:blipFill>
                <a:blip r:embed="rId3"/>
                <a:stretch>
                  <a:fillRect b="-377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2927648" y="5589240"/>
                <a:ext cx="5904656" cy="3738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fr-FR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sSup>
                            <m:sSupPr>
                              <m:ctrlP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fr-FR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fr-FR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648" y="5589240"/>
                <a:ext cx="5904656" cy="373820"/>
              </a:xfrm>
              <a:prstGeom prst="rect">
                <a:avLst/>
              </a:prstGeom>
              <a:blipFill>
                <a:blip r:embed="rId4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 rot="19953249">
            <a:off x="8439088" y="4904394"/>
            <a:ext cx="2775119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fr-FR" sz="1800" dirty="0"/>
              <a:t>C’est la base de </a:t>
            </a:r>
            <a:endParaRPr lang="fr-FR" sz="1800" dirty="0" smtClean="0"/>
          </a:p>
          <a:p>
            <a:r>
              <a:rPr lang="fr-FR" sz="1800" b="1" dirty="0" smtClean="0"/>
              <a:t>l’algorithme </a:t>
            </a:r>
            <a:r>
              <a:rPr lang="fr-FR" sz="1800" b="1" dirty="0" err="1"/>
              <a:t>Q-learning</a:t>
            </a:r>
            <a:r>
              <a:rPr lang="fr-F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985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4000" dirty="0"/>
              <a:t>Équation de Bellman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835624"/>
          </a:xfrm>
        </p:spPr>
        <p:txBody>
          <a:bodyPr/>
          <a:lstStyle/>
          <a:p>
            <a:r>
              <a:rPr lang="fr-FR" sz="2000" b="1" dirty="0" smtClean="0"/>
              <a:t>Exemple</a:t>
            </a:r>
            <a:r>
              <a:rPr lang="fr-FR" sz="2000" dirty="0" smtClean="0"/>
              <a:t> : une </a:t>
            </a:r>
            <a:r>
              <a:rPr lang="fr-FR" sz="2000" dirty="0"/>
              <a:t>petite grille 3×1 ([ S1 ] — [ S2 ] — [ S3 </a:t>
            </a:r>
            <a:r>
              <a:rPr lang="fr-FR" sz="2000" dirty="0" smtClean="0"/>
              <a:t>])</a:t>
            </a:r>
          </a:p>
          <a:p>
            <a:pPr lvl="1"/>
            <a:r>
              <a:rPr lang="fr-FR" sz="1800" b="1" dirty="0" smtClean="0"/>
              <a:t>S1</a:t>
            </a:r>
            <a:r>
              <a:rPr lang="fr-FR" sz="1800" dirty="0" smtClean="0"/>
              <a:t> </a:t>
            </a:r>
            <a:r>
              <a:rPr lang="fr-FR" sz="1800" dirty="0"/>
              <a:t>: état de départ</a:t>
            </a:r>
          </a:p>
          <a:p>
            <a:pPr lvl="1"/>
            <a:r>
              <a:rPr lang="fr-FR" sz="1800" b="1" dirty="0"/>
              <a:t>S2</a:t>
            </a:r>
            <a:r>
              <a:rPr lang="fr-FR" sz="1800" dirty="0"/>
              <a:t> : état intermédiaire</a:t>
            </a:r>
          </a:p>
          <a:p>
            <a:pPr lvl="1"/>
            <a:r>
              <a:rPr lang="fr-FR" sz="1800" b="1" dirty="0"/>
              <a:t>S3</a:t>
            </a:r>
            <a:r>
              <a:rPr lang="fr-FR" sz="1800" dirty="0"/>
              <a:t> : état terminal (objectif)</a:t>
            </a:r>
          </a:p>
          <a:p>
            <a:r>
              <a:rPr lang="fr-FR" sz="2000" dirty="0"/>
              <a:t>Chaque déplacement </a:t>
            </a:r>
            <a:r>
              <a:rPr lang="fr-FR" sz="2000" b="1" dirty="0"/>
              <a:t>vers la droite</a:t>
            </a:r>
            <a:r>
              <a:rPr lang="fr-FR" sz="2000" dirty="0"/>
              <a:t> donne une </a:t>
            </a:r>
            <a:r>
              <a:rPr lang="fr-FR" sz="2000" b="1" dirty="0"/>
              <a:t>récompense immédiate = –1</a:t>
            </a:r>
            <a:r>
              <a:rPr lang="fr-FR" sz="2000" dirty="0"/>
              <a:t>, sauf quand on atteint la </a:t>
            </a:r>
            <a:r>
              <a:rPr lang="fr-FR" sz="2000" b="1" dirty="0"/>
              <a:t>fin (S3)</a:t>
            </a:r>
            <a:r>
              <a:rPr lang="fr-FR" sz="2000" dirty="0"/>
              <a:t> où on reçoit </a:t>
            </a:r>
            <a:r>
              <a:rPr lang="fr-FR" sz="2000" b="1" dirty="0"/>
              <a:t>+10</a:t>
            </a:r>
            <a:r>
              <a:rPr lang="fr-FR" sz="2000" dirty="0"/>
              <a:t>.</a:t>
            </a:r>
            <a:br>
              <a:rPr lang="fr-FR" sz="2000" dirty="0"/>
            </a:br>
            <a:r>
              <a:rPr lang="fr-FR" sz="2000" dirty="0"/>
              <a:t>Quand on atteint S3, le jeu s’arrête.</a:t>
            </a:r>
          </a:p>
          <a:p>
            <a:r>
              <a:rPr lang="fr-FR" sz="2000" dirty="0"/>
              <a:t>Facteur d’actualisation : </a:t>
            </a:r>
            <a:r>
              <a:rPr lang="fr-FR" sz="2000" dirty="0" smtClean="0"/>
              <a:t>γ=0.9</a:t>
            </a:r>
          </a:p>
          <a:p>
            <a:r>
              <a:rPr lang="fr-FR" sz="2000" b="1" dirty="0"/>
              <a:t>Politique actuelle (</a:t>
            </a:r>
            <a:r>
              <a:rPr lang="el-GR" sz="2000" b="1" dirty="0"/>
              <a:t>π)</a:t>
            </a:r>
            <a:endParaRPr lang="fr-FR" sz="2000" b="1" dirty="0"/>
          </a:p>
          <a:p>
            <a:pPr lvl="1"/>
            <a:r>
              <a:rPr lang="fr-FR" sz="1800" dirty="0"/>
              <a:t>Pour commencer, supposons une politique simple :</a:t>
            </a:r>
          </a:p>
          <a:p>
            <a:pPr lvl="2"/>
            <a:r>
              <a:rPr lang="fr-FR" sz="1600" dirty="0"/>
              <a:t>À chaque état, on va toujours vers la droite.</a:t>
            </a:r>
          </a:p>
          <a:p>
            <a:pPr lvl="1"/>
            <a:r>
              <a:rPr lang="fr-FR" sz="1800" dirty="0"/>
              <a:t>Donc :</a:t>
            </a:r>
          </a:p>
          <a:p>
            <a:pPr lvl="2"/>
            <a:r>
              <a:rPr lang="fr-FR" sz="1600" dirty="0"/>
              <a:t>De S1 → S2</a:t>
            </a:r>
          </a:p>
          <a:p>
            <a:pPr lvl="2"/>
            <a:r>
              <a:rPr lang="fr-FR" sz="1600" dirty="0"/>
              <a:t>De S2 → S3</a:t>
            </a:r>
          </a:p>
          <a:p>
            <a:pPr lvl="2"/>
            <a:r>
              <a:rPr lang="fr-FR" sz="1600" dirty="0"/>
              <a:t>De S3 → rien (terminal)</a:t>
            </a:r>
            <a:endParaRPr lang="fr-FR" sz="1800" dirty="0"/>
          </a:p>
          <a:p>
            <a:endParaRPr lang="fr-FR" sz="2800" dirty="0"/>
          </a:p>
          <a:p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24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60392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4000" dirty="0"/>
              <a:t>Équation de Bellman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40768"/>
                <a:ext cx="10972800" cy="5364832"/>
              </a:xfrm>
            </p:spPr>
            <p:txBody>
              <a:bodyPr/>
              <a:lstStyle/>
              <a:p>
                <a:r>
                  <a:rPr lang="fr-FR" sz="2400" b="1" dirty="0" smtClean="0"/>
                  <a:t>Application de l’équation de Bellman (valeurs d’état)</a:t>
                </a:r>
              </a:p>
              <a:p>
                <a:r>
                  <a:rPr lang="fr-FR" sz="2400" dirty="0"/>
                  <a:t>On veut calculer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FR" sz="2400" dirty="0" smtClean="0"/>
                  <a:t> 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fr-FR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fr-F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dirty="0" smtClean="0"/>
                  <a:t> en utilisant </a:t>
                </a:r>
                <a:endParaRPr lang="fr-FR" sz="2400" dirty="0"/>
              </a:p>
              <a:p>
                <a:r>
                  <a:rPr lang="fr-FR" sz="2400" b="1" dirty="0" smtClean="0"/>
                  <a:t>Pour </a:t>
                </a:r>
                <a:r>
                  <a:rPr lang="fr-FR" sz="2400" b="1" dirty="0"/>
                  <a:t>S3 :</a:t>
                </a:r>
              </a:p>
              <a:p>
                <a:pPr lvl="1"/>
                <a:r>
                  <a:rPr lang="fr-FR" sz="2000" dirty="0"/>
                  <a:t>C’est un </a:t>
                </a:r>
                <a:r>
                  <a:rPr lang="fr-FR" sz="2000" b="1" dirty="0"/>
                  <a:t>état terminal</a:t>
                </a:r>
                <a:r>
                  <a:rPr lang="fr-FR" sz="2000" dirty="0"/>
                  <a:t> ⇒ pas de suite </a:t>
                </a:r>
                <a:r>
                  <a:rPr lang="fr-FR" sz="2000" dirty="0" smtClean="0"/>
                  <a:t>: V(S3</a:t>
                </a:r>
                <a:r>
                  <a:rPr lang="fr-FR" sz="2000" dirty="0"/>
                  <a:t>)=</a:t>
                </a:r>
                <a:r>
                  <a:rPr lang="fr-FR" sz="2000" dirty="0" smtClean="0"/>
                  <a:t>0</a:t>
                </a:r>
              </a:p>
              <a:p>
                <a:r>
                  <a:rPr lang="pt-BR" sz="2400" b="1" dirty="0"/>
                  <a:t>Pour S2 :</a:t>
                </a:r>
              </a:p>
              <a:p>
                <a:pPr lvl="1"/>
                <a:r>
                  <a:rPr lang="pt-BR" sz="2000" dirty="0"/>
                  <a:t>Aller de S2 → S3 donne :</a:t>
                </a:r>
              </a:p>
              <a:p>
                <a:pPr lvl="2"/>
                <a:r>
                  <a:rPr lang="pt-BR" sz="1800" dirty="0"/>
                  <a:t>Récompense immédiate R=+</a:t>
                </a:r>
                <a:r>
                  <a:rPr lang="pt-BR" sz="1800" dirty="0" smtClean="0"/>
                  <a:t>10</a:t>
                </a:r>
                <a:endParaRPr lang="pt-BR" sz="1800" dirty="0"/>
              </a:p>
              <a:p>
                <a:pPr lvl="2"/>
                <a:r>
                  <a:rPr lang="pt-BR" sz="1800" dirty="0"/>
                  <a:t>État suivant </a:t>
                </a:r>
                <a:r>
                  <a:rPr lang="pt-BR" sz="1800" dirty="0" smtClean="0"/>
                  <a:t>S3 </a:t>
                </a:r>
                <a:r>
                  <a:rPr lang="pt-BR" sz="1800" dirty="0"/>
                  <a:t>de valeur V(S3</a:t>
                </a:r>
                <a:r>
                  <a:rPr lang="pt-BR" sz="1800" dirty="0" smtClean="0"/>
                  <a:t>)=0</a:t>
                </a:r>
                <a:endParaRPr lang="pt-BR" sz="1800" dirty="0"/>
              </a:p>
              <a:p>
                <a:pPr marL="457200" lvl="1" indent="0">
                  <a:buNone/>
                </a:pPr>
                <a:r>
                  <a:rPr lang="pt-BR" sz="2000" dirty="0" smtClean="0"/>
                  <a:t>	V(S2</a:t>
                </a:r>
                <a:r>
                  <a:rPr lang="pt-BR" sz="2000" dirty="0"/>
                  <a:t>)=R+γV(S3)=</a:t>
                </a:r>
                <a:r>
                  <a:rPr lang="pt-BR" sz="2000" dirty="0" smtClean="0"/>
                  <a:t>10+0.9×0=10</a:t>
                </a:r>
                <a:endParaRPr lang="pt-BR" sz="2400" b="1" dirty="0" smtClean="0"/>
              </a:p>
              <a:p>
                <a:r>
                  <a:rPr lang="pt-BR" sz="2400" b="1" dirty="0" smtClean="0"/>
                  <a:t>Pour S1 :</a:t>
                </a:r>
              </a:p>
              <a:p>
                <a:pPr lvl="1"/>
                <a:r>
                  <a:rPr lang="pt-BR" sz="2000" dirty="0" smtClean="0"/>
                  <a:t>Aller </a:t>
                </a:r>
                <a:r>
                  <a:rPr lang="pt-BR" sz="2000" dirty="0"/>
                  <a:t>de S1 → S2 donne :</a:t>
                </a:r>
              </a:p>
              <a:p>
                <a:pPr lvl="2"/>
                <a:r>
                  <a:rPr lang="pt-BR" sz="1800" dirty="0"/>
                  <a:t>Récompense immédiate R</a:t>
                </a:r>
                <a:r>
                  <a:rPr lang="pt-BR" sz="1800" dirty="0" smtClean="0"/>
                  <a:t>=-1 </a:t>
                </a:r>
              </a:p>
              <a:p>
                <a:pPr lvl="2"/>
                <a:r>
                  <a:rPr lang="pt-BR" sz="1800" dirty="0" smtClean="0"/>
                  <a:t>État </a:t>
                </a:r>
                <a:r>
                  <a:rPr lang="pt-BR" sz="1800" dirty="0"/>
                  <a:t>suivant </a:t>
                </a:r>
                <a:r>
                  <a:rPr lang="pt-BR" sz="1800" dirty="0" smtClean="0"/>
                  <a:t>S2 </a:t>
                </a:r>
                <a:r>
                  <a:rPr lang="pt-BR" sz="1800" dirty="0"/>
                  <a:t>de valeur V(S2)=</a:t>
                </a:r>
                <a:r>
                  <a:rPr lang="pt-BR" sz="1800" dirty="0" smtClean="0"/>
                  <a:t>10</a:t>
                </a:r>
                <a:endParaRPr lang="pt-BR" sz="1800" dirty="0"/>
              </a:p>
              <a:p>
                <a:pPr marL="457200" lvl="1" indent="0">
                  <a:buNone/>
                </a:pPr>
                <a:r>
                  <a:rPr lang="pt-BR" sz="2000" dirty="0" smtClean="0"/>
                  <a:t>	V(S1</a:t>
                </a:r>
                <a:r>
                  <a:rPr lang="pt-BR" sz="2000" dirty="0"/>
                  <a:t>)=R+γV(S2)=−</a:t>
                </a:r>
                <a:r>
                  <a:rPr lang="pt-BR" sz="2000" dirty="0" smtClean="0"/>
                  <a:t>1+0.9×10=8</a:t>
                </a:r>
                <a:endParaRPr lang="fr-FR" sz="200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40768"/>
                <a:ext cx="10972800" cy="5364832"/>
              </a:xfrm>
              <a:blipFill>
                <a:blip r:embed="rId2"/>
                <a:stretch>
                  <a:fillRect l="-333" t="-795" b="-204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25</a:t>
            </a:fld>
            <a:endParaRPr lang="fr-FR" alt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097" y="1700808"/>
            <a:ext cx="3556559" cy="588672"/>
          </a:xfrm>
          <a:prstGeom prst="rect">
            <a:avLst/>
          </a:prstGeom>
        </p:spPr>
      </p:pic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487877"/>
              </p:ext>
            </p:extLst>
          </p:nvPr>
        </p:nvGraphicFramePr>
        <p:xfrm>
          <a:off x="6960096" y="3861048"/>
          <a:ext cx="3974232" cy="14630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987116">
                  <a:extLst>
                    <a:ext uri="{9D8B030D-6E8A-4147-A177-3AD203B41FA5}">
                      <a16:colId xmlns:a16="http://schemas.microsoft.com/office/drawing/2014/main" val="579616058"/>
                    </a:ext>
                  </a:extLst>
                </a:gridCol>
                <a:gridCol w="1987116">
                  <a:extLst>
                    <a:ext uri="{9D8B030D-6E8A-4147-A177-3AD203B41FA5}">
                      <a16:colId xmlns:a16="http://schemas.microsoft.com/office/drawing/2014/main" val="14421043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/>
                        <a:t>État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Valeur (V(s))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4092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467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60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4486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72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968552"/>
          </a:xfrm>
        </p:spPr>
        <p:txBody>
          <a:bodyPr/>
          <a:lstStyle/>
          <a:p>
            <a:r>
              <a:rPr lang="fr-FR" sz="2400" b="1" dirty="0"/>
              <a:t>Si on modifie la politique (π</a:t>
            </a:r>
            <a:r>
              <a:rPr lang="fr-FR" sz="2400" b="1" dirty="0" smtClean="0"/>
              <a:t>’)</a:t>
            </a:r>
          </a:p>
          <a:p>
            <a:pPr lvl="1"/>
            <a:r>
              <a:rPr lang="fr-FR" sz="2000" dirty="0"/>
              <a:t>Supposons maintenant que le robot </a:t>
            </a:r>
            <a:r>
              <a:rPr lang="fr-FR" sz="2000" b="1" dirty="0"/>
              <a:t>a parfois peur d’aller à droite</a:t>
            </a:r>
            <a:r>
              <a:rPr lang="fr-FR" sz="2000" dirty="0"/>
              <a:t> :</a:t>
            </a:r>
          </a:p>
          <a:p>
            <a:pPr lvl="2"/>
            <a:r>
              <a:rPr lang="fr-FR" sz="1800" dirty="0"/>
              <a:t>De S1, il reste sur place avec </a:t>
            </a:r>
            <a:r>
              <a:rPr lang="fr-FR" sz="1800" dirty="0" err="1"/>
              <a:t>proba</a:t>
            </a:r>
            <a:r>
              <a:rPr lang="fr-FR" sz="1800" dirty="0"/>
              <a:t> 0.5 (récompense –1),</a:t>
            </a:r>
          </a:p>
          <a:p>
            <a:pPr lvl="2"/>
            <a:r>
              <a:rPr lang="fr-FR" sz="1800" dirty="0"/>
              <a:t>Et avance à droite avec </a:t>
            </a:r>
            <a:r>
              <a:rPr lang="fr-FR" sz="1800" dirty="0" err="1"/>
              <a:t>proba</a:t>
            </a:r>
            <a:r>
              <a:rPr lang="fr-FR" sz="1800" dirty="0"/>
              <a:t> 0.5 (récompense –1 vers S2).</a:t>
            </a:r>
          </a:p>
          <a:p>
            <a:pPr lvl="1"/>
            <a:r>
              <a:rPr lang="fr-FR" sz="1800" dirty="0"/>
              <a:t>Alors </a:t>
            </a:r>
            <a:r>
              <a:rPr lang="fr-FR" sz="1800" dirty="0" smtClean="0"/>
              <a:t>:</a:t>
            </a:r>
          </a:p>
          <a:p>
            <a:pPr lvl="1"/>
            <a:endParaRPr lang="fr-FR" sz="1800" dirty="0"/>
          </a:p>
          <a:p>
            <a:pPr lvl="1"/>
            <a:endParaRPr lang="fr-FR" sz="1800" dirty="0" smtClean="0"/>
          </a:p>
          <a:p>
            <a:pPr lvl="1"/>
            <a:r>
              <a:rPr lang="fr-FR" sz="1800" dirty="0"/>
              <a:t>On connaît V(S2)=</a:t>
            </a:r>
            <a:r>
              <a:rPr lang="fr-FR" sz="1800" dirty="0" smtClean="0"/>
              <a:t>10</a:t>
            </a:r>
          </a:p>
          <a:p>
            <a:pPr lvl="1"/>
            <a:r>
              <a:rPr lang="fr-FR" sz="1800" dirty="0" smtClean="0"/>
              <a:t>Résolvons :</a:t>
            </a:r>
          </a:p>
          <a:p>
            <a:endParaRPr lang="fr-FR" sz="2400" dirty="0" smtClean="0"/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/>
          </a:p>
          <a:p>
            <a:pPr lvl="1"/>
            <a:r>
              <a:rPr lang="fr-FR" sz="1800" dirty="0"/>
              <a:t>La valeur baisse, car la politique est </a:t>
            </a:r>
            <a:r>
              <a:rPr lang="fr-FR" sz="1800" b="1" dirty="0"/>
              <a:t>moins sûre</a:t>
            </a:r>
            <a:r>
              <a:rPr lang="fr-FR" sz="1800" dirty="0"/>
              <a:t> d’atteindre la récompense.</a:t>
            </a:r>
          </a:p>
          <a:p>
            <a:endParaRPr lang="fr-FR" sz="24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26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4000" dirty="0"/>
              <a:t>Équation de Bellman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917" y="3187561"/>
            <a:ext cx="5306165" cy="428685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656" y="4523758"/>
            <a:ext cx="7059010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62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526960" cy="5112568"/>
          </a:xfrm>
        </p:spPr>
        <p:txBody>
          <a:bodyPr/>
          <a:lstStyle/>
          <a:p>
            <a:r>
              <a:rPr lang="fr-FR" sz="2400" b="1" dirty="0"/>
              <a:t>Équation de Bellman pour Q-valeurs</a:t>
            </a:r>
          </a:p>
          <a:p>
            <a:r>
              <a:rPr lang="fr-FR" sz="2000" dirty="0"/>
              <a:t>Pour chaque couple (état, action) </a:t>
            </a:r>
            <a:r>
              <a:rPr lang="fr-FR" sz="2000" dirty="0" smtClean="0"/>
              <a:t>:</a:t>
            </a:r>
          </a:p>
          <a:p>
            <a:r>
              <a:rPr lang="pt-BR" sz="2000" dirty="0" smtClean="0"/>
              <a:t>Exemples </a:t>
            </a:r>
            <a:r>
              <a:rPr lang="pt-BR" sz="2000" dirty="0"/>
              <a:t>:</a:t>
            </a:r>
          </a:p>
          <a:p>
            <a:pPr lvl="1"/>
            <a:r>
              <a:rPr lang="pt-BR" sz="1800" dirty="0"/>
              <a:t>Q(S1,→)=−</a:t>
            </a:r>
            <a:r>
              <a:rPr lang="pt-BR" sz="1800" dirty="0" smtClean="0"/>
              <a:t>1+0.9×10=8</a:t>
            </a:r>
            <a:endParaRPr lang="pt-BR" sz="1800" dirty="0"/>
          </a:p>
          <a:p>
            <a:pPr lvl="1"/>
            <a:r>
              <a:rPr lang="pt-BR" sz="1800" dirty="0"/>
              <a:t>Q(S2,→)=</a:t>
            </a:r>
            <a:r>
              <a:rPr lang="pt-BR" sz="1800" dirty="0" smtClean="0"/>
              <a:t>10+0.9×0=10 </a:t>
            </a:r>
          </a:p>
          <a:p>
            <a:pPr lvl="1"/>
            <a:r>
              <a:rPr lang="pt-BR" sz="1800" dirty="0" smtClean="0"/>
              <a:t>Puis :</a:t>
            </a:r>
          </a:p>
          <a:p>
            <a:r>
              <a:rPr lang="fr-FR" sz="2000" dirty="0" smtClean="0"/>
              <a:t>Cela </a:t>
            </a:r>
            <a:r>
              <a:rPr lang="fr-FR" sz="2000" dirty="0"/>
              <a:t>veut dire que la </a:t>
            </a:r>
            <a:r>
              <a:rPr lang="fr-FR" sz="2000" b="1" dirty="0"/>
              <a:t>meilleure action</a:t>
            </a:r>
            <a:r>
              <a:rPr lang="fr-FR" sz="2000" dirty="0"/>
              <a:t> à chaque état est celle qui donne la plus grande Q-valeur.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27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67544"/>
          </a:xfrm>
        </p:spPr>
        <p:txBody>
          <a:bodyPr/>
          <a:lstStyle/>
          <a:p>
            <a:r>
              <a:rPr lang="fr-FR" sz="4000" dirty="0"/>
              <a:t>Équation de Bellman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/>
              <p:cNvSpPr txBox="1"/>
              <p:nvPr/>
            </p:nvSpPr>
            <p:spPr>
              <a:xfrm>
                <a:off x="4729612" y="1825079"/>
                <a:ext cx="3526628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000" dirty="0"/>
              </a:p>
            </p:txBody>
          </p:sp>
        </mc:Choice>
        <mc:Fallback xmlns="">
          <p:sp>
            <p:nvSpPr>
              <p:cNvPr id="7" name="ZoneTexte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612" y="1825079"/>
                <a:ext cx="3526628" cy="307777"/>
              </a:xfrm>
              <a:prstGeom prst="rect">
                <a:avLst/>
              </a:prstGeom>
              <a:blipFill>
                <a:blip r:embed="rId2"/>
                <a:stretch>
                  <a:fillRect b="-37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0" y="3149969"/>
            <a:ext cx="1944216" cy="423047"/>
          </a:xfrm>
          <a:prstGeom prst="rect">
            <a:avLst/>
          </a:prstGeom>
        </p:spPr>
      </p:pic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320328"/>
              </p:ext>
            </p:extLst>
          </p:nvPr>
        </p:nvGraphicFramePr>
        <p:xfrm>
          <a:off x="1631504" y="4365104"/>
          <a:ext cx="9590856" cy="18288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340802">
                  <a:extLst>
                    <a:ext uri="{9D8B030D-6E8A-4147-A177-3AD203B41FA5}">
                      <a16:colId xmlns:a16="http://schemas.microsoft.com/office/drawing/2014/main" val="2617315182"/>
                    </a:ext>
                  </a:extLst>
                </a:gridCol>
                <a:gridCol w="7250054">
                  <a:extLst>
                    <a:ext uri="{9D8B030D-6E8A-4147-A177-3AD203B41FA5}">
                      <a16:colId xmlns:a16="http://schemas.microsoft.com/office/drawing/2014/main" val="3698371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/>
                        <a:t>Élément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Interprétation</a:t>
                      </a:r>
                    </a:p>
                  </a:txBody>
                  <a:tcPr anchor="ctr">
                    <a:solidFill>
                      <a:srgbClr val="E6E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160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 smtClean="0"/>
                        <a:t>V(s)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valeur d’un état = récompense actuelle + avenir espéré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026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dirty="0" smtClean="0"/>
                        <a:t>Q(</a:t>
                      </a:r>
                      <a:r>
                        <a:rPr lang="fr-FR" dirty="0" err="1" smtClean="0"/>
                        <a:t>s,a</a:t>
                      </a:r>
                      <a:r>
                        <a:rPr lang="fr-FR" dirty="0" smtClean="0"/>
                        <a:t>)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valeur d’une action donnée dans un état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9257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Bellman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relation récursive reliant chaque état à ses successeurs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375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/>
                        <a:t>Itération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on peut calculer les valeurs progressivement jusqu’à convergence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970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14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95536"/>
          </a:xfrm>
        </p:spPr>
        <p:txBody>
          <a:bodyPr/>
          <a:lstStyle/>
          <a:p>
            <a:r>
              <a:rPr lang="fr-FR" sz="4000" dirty="0"/>
              <a:t>Équation de Bellman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4763616"/>
          </a:xfrm>
        </p:spPr>
        <p:txBody>
          <a:bodyPr/>
          <a:lstStyle/>
          <a:p>
            <a:r>
              <a:rPr lang="fr-FR" sz="2400" dirty="0">
                <a:solidFill>
                  <a:srgbClr val="FF0000"/>
                </a:solidFill>
              </a:rPr>
              <a:t>Comment décider </a:t>
            </a:r>
            <a:r>
              <a:rPr lang="fr-FR" sz="2400" dirty="0" smtClean="0">
                <a:solidFill>
                  <a:srgbClr val="FF0000"/>
                </a:solidFill>
              </a:rPr>
              <a:t>?</a:t>
            </a:r>
          </a:p>
          <a:p>
            <a:pPr lvl="1"/>
            <a:r>
              <a:rPr lang="fr-FR" sz="2400" dirty="0"/>
              <a:t>Si tu as Q(</a:t>
            </a:r>
            <a:r>
              <a:rPr lang="fr-FR" sz="2400" dirty="0" err="1"/>
              <a:t>s,a</a:t>
            </a:r>
            <a:r>
              <a:rPr lang="fr-FR" sz="2400" dirty="0"/>
              <a:t>) :</a:t>
            </a:r>
          </a:p>
          <a:p>
            <a:pPr lvl="2"/>
            <a:r>
              <a:rPr lang="fr-FR" sz="1800" dirty="0" smtClean="0"/>
              <a:t>Regarde </a:t>
            </a:r>
            <a:r>
              <a:rPr lang="fr-FR" sz="1800" dirty="0"/>
              <a:t>simplement le max : </a:t>
            </a:r>
            <a:r>
              <a:rPr lang="fr-FR" sz="1800" dirty="0" err="1"/>
              <a:t>argmax_a</a:t>
            </a:r>
            <a:r>
              <a:rPr lang="fr-FR" sz="1800" dirty="0"/>
              <a:t> Q(</a:t>
            </a:r>
            <a:r>
              <a:rPr lang="fr-FR" sz="1800" dirty="0" err="1"/>
              <a:t>s,a</a:t>
            </a:r>
            <a:r>
              <a:rPr lang="fr-FR" sz="1800" dirty="0"/>
              <a:t>)</a:t>
            </a:r>
          </a:p>
          <a:p>
            <a:pPr lvl="2"/>
            <a:r>
              <a:rPr lang="fr-FR" sz="1800" dirty="0" smtClean="0"/>
              <a:t>C'est </a:t>
            </a:r>
            <a:r>
              <a:rPr lang="fr-FR" sz="1800" dirty="0"/>
              <a:t>direct, pas de calcul supplémentaire</a:t>
            </a:r>
          </a:p>
          <a:p>
            <a:pPr lvl="1"/>
            <a:r>
              <a:rPr lang="fr-FR" sz="2400" dirty="0"/>
              <a:t>Si tu as seulement V(s) :</a:t>
            </a:r>
          </a:p>
          <a:p>
            <a:pPr lvl="2"/>
            <a:r>
              <a:rPr lang="fr-FR" sz="1800" dirty="0" smtClean="0"/>
              <a:t>Tu </a:t>
            </a:r>
            <a:r>
              <a:rPr lang="fr-FR" sz="1800" dirty="0"/>
              <a:t>dois calculer : R(</a:t>
            </a:r>
            <a:r>
              <a:rPr lang="fr-FR" sz="1800" dirty="0" err="1"/>
              <a:t>s,a</a:t>
            </a:r>
            <a:r>
              <a:rPr lang="fr-FR" sz="1800" dirty="0"/>
              <a:t>) + γ × V(s') pour chaque action</a:t>
            </a:r>
          </a:p>
          <a:p>
            <a:pPr lvl="2"/>
            <a:r>
              <a:rPr lang="fr-FR" sz="1800" dirty="0" smtClean="0"/>
              <a:t>Tu </a:t>
            </a:r>
            <a:r>
              <a:rPr lang="fr-FR" sz="1800" dirty="0"/>
              <a:t>as besoin du modèle de l'environnement</a:t>
            </a:r>
          </a:p>
          <a:p>
            <a:pPr lvl="1"/>
            <a:r>
              <a:rPr lang="fr-FR" sz="2400" dirty="0"/>
              <a:t>Pendant l'apprentissage :</a:t>
            </a:r>
          </a:p>
          <a:p>
            <a:pPr lvl="2"/>
            <a:r>
              <a:rPr lang="fr-FR" sz="1800" dirty="0" smtClean="0"/>
              <a:t>Utilise </a:t>
            </a:r>
            <a:r>
              <a:rPr lang="fr-FR" sz="1800" dirty="0"/>
              <a:t>ε-</a:t>
            </a:r>
            <a:r>
              <a:rPr lang="fr-FR" sz="1800" dirty="0" err="1"/>
              <a:t>greedy</a:t>
            </a:r>
            <a:r>
              <a:rPr lang="fr-FR" sz="1800" dirty="0"/>
              <a:t> ou </a:t>
            </a:r>
            <a:r>
              <a:rPr lang="fr-FR" sz="1800" dirty="0" err="1"/>
              <a:t>softmax</a:t>
            </a:r>
            <a:r>
              <a:rPr lang="fr-FR" sz="1800" dirty="0"/>
              <a:t> pour explorer</a:t>
            </a:r>
          </a:p>
          <a:p>
            <a:pPr lvl="2"/>
            <a:r>
              <a:rPr lang="fr-FR" sz="1800" dirty="0" smtClean="0"/>
              <a:t>Réduis </a:t>
            </a:r>
            <a:r>
              <a:rPr lang="fr-FR" sz="1800" dirty="0"/>
              <a:t>progressivement l'exploration</a:t>
            </a:r>
          </a:p>
          <a:p>
            <a:pPr lvl="1"/>
            <a:r>
              <a:rPr lang="fr-FR" sz="2400" dirty="0"/>
              <a:t>En production :</a:t>
            </a:r>
          </a:p>
          <a:p>
            <a:pPr lvl="2"/>
            <a:r>
              <a:rPr lang="fr-FR" sz="1800" dirty="0" smtClean="0"/>
              <a:t>Politique </a:t>
            </a:r>
            <a:r>
              <a:rPr lang="fr-FR" sz="1800" dirty="0"/>
              <a:t>gloutonne pure (</a:t>
            </a:r>
            <a:r>
              <a:rPr lang="fr-FR" sz="1800" dirty="0" err="1"/>
              <a:t>argmax</a:t>
            </a:r>
            <a:r>
              <a:rPr lang="fr-FR" sz="1800" dirty="0" smtClean="0"/>
              <a:t>)</a:t>
            </a:r>
            <a:endParaRPr lang="fr-FR" sz="1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28</a:t>
            </a:fld>
            <a:endParaRPr lang="fr-FR" altLang="fr-FR"/>
          </a:p>
        </p:txBody>
      </p:sp>
      <p:sp>
        <p:nvSpPr>
          <p:cNvPr id="8" name="Rectangle 7"/>
          <p:cNvSpPr/>
          <p:nvPr/>
        </p:nvSpPr>
        <p:spPr>
          <a:xfrm rot="19623956">
            <a:off x="5857173" y="3742144"/>
            <a:ext cx="6096000" cy="923330"/>
          </a:xfrm>
          <a:prstGeom prst="rect">
            <a:avLst/>
          </a:prstGeom>
          <a:solidFill>
            <a:srgbClr val="FFFF00"/>
          </a:solidFill>
        </p:spPr>
        <p:txBody>
          <a:bodyPr>
            <a:spAutoFit/>
          </a:bodyPr>
          <a:lstStyle/>
          <a:p>
            <a:r>
              <a:rPr lang="fr-FR" sz="1800" b="1" dirty="0"/>
              <a:t>La beauté de Q</a:t>
            </a:r>
            <a:r>
              <a:rPr lang="fr-FR" sz="1800" dirty="0"/>
              <a:t> : Une fois calculé, la décision est </a:t>
            </a:r>
            <a:r>
              <a:rPr lang="fr-FR" sz="1800" b="1" dirty="0"/>
              <a:t>triviale</a:t>
            </a:r>
            <a:r>
              <a:rPr lang="fr-FR" sz="1800" dirty="0"/>
              <a:t> - juste prendre le max ! C'est pour ça que </a:t>
            </a:r>
            <a:r>
              <a:rPr lang="fr-FR" sz="1800" dirty="0" err="1"/>
              <a:t>Q-learning</a:t>
            </a:r>
            <a:r>
              <a:rPr lang="fr-FR" sz="1800" dirty="0"/>
              <a:t> est si populaire. </a:t>
            </a:r>
          </a:p>
        </p:txBody>
      </p:sp>
    </p:spTree>
    <p:extLst>
      <p:ext uri="{BB962C8B-B14F-4D97-AF65-F5344CB8AC3E}">
        <p14:creationId xmlns:p14="http://schemas.microsoft.com/office/powerpoint/2010/main" val="3430456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835624"/>
          </a:xfrm>
        </p:spPr>
        <p:txBody>
          <a:bodyPr/>
          <a:lstStyle/>
          <a:p>
            <a:r>
              <a:rPr lang="fr-FR" sz="2400" dirty="0" smtClean="0"/>
              <a:t>Apprentissage </a:t>
            </a:r>
            <a:r>
              <a:rPr lang="fr-FR" sz="2400" dirty="0"/>
              <a:t>sans modèle de la valeur d’action optimale Q*(</a:t>
            </a:r>
            <a:r>
              <a:rPr lang="fr-FR" sz="2400" dirty="0" err="1"/>
              <a:t>s,a</a:t>
            </a:r>
            <a:r>
              <a:rPr lang="fr-FR" sz="2400" dirty="0" smtClean="0"/>
              <a:t>), même </a:t>
            </a:r>
            <a:r>
              <a:rPr lang="fr-FR" sz="2400" dirty="0"/>
              <a:t>si l’agent ne suit pas encore la politique optimale.</a:t>
            </a:r>
          </a:p>
          <a:p>
            <a:r>
              <a:rPr lang="fr-FR" sz="2400" dirty="0" smtClean="0"/>
              <a:t>C’est </a:t>
            </a:r>
            <a:r>
              <a:rPr lang="fr-FR" sz="2400" dirty="0"/>
              <a:t>une méthode off-</a:t>
            </a:r>
            <a:r>
              <a:rPr lang="fr-FR" sz="2400" dirty="0" err="1"/>
              <a:t>policy</a:t>
            </a:r>
            <a:r>
              <a:rPr lang="fr-FR" sz="2400" dirty="0"/>
              <a:t> :</a:t>
            </a:r>
          </a:p>
          <a:p>
            <a:pPr lvl="1"/>
            <a:r>
              <a:rPr lang="fr-FR" sz="2000" dirty="0" smtClean="0"/>
              <a:t>on </a:t>
            </a:r>
            <a:r>
              <a:rPr lang="fr-FR" sz="2000" dirty="0"/>
              <a:t>apprend la meilleure politique en observant une autre politique (</a:t>
            </a:r>
            <a:r>
              <a:rPr lang="fr-FR" sz="2000" dirty="0" smtClean="0"/>
              <a:t>souvent </a:t>
            </a:r>
            <a:r>
              <a:rPr lang="fr-FR" sz="2000" dirty="0"/>
              <a:t>ε-</a:t>
            </a:r>
            <a:r>
              <a:rPr lang="fr-FR" sz="2000" dirty="0" err="1"/>
              <a:t>greedy</a:t>
            </a:r>
            <a:r>
              <a:rPr lang="fr-FR" sz="2000" dirty="0" smtClean="0"/>
              <a:t>).</a:t>
            </a:r>
          </a:p>
          <a:p>
            <a:r>
              <a:rPr lang="fr-FR" sz="2400" dirty="0"/>
              <a:t>On observe la récompense immédiate r</a:t>
            </a:r>
          </a:p>
          <a:p>
            <a:r>
              <a:rPr lang="fr-FR" sz="2400" dirty="0" smtClean="0"/>
              <a:t>On </a:t>
            </a:r>
            <a:r>
              <a:rPr lang="fr-FR" sz="2400" dirty="0"/>
              <a:t>estime la meilleure valeur future possible à partir de s'</a:t>
            </a:r>
          </a:p>
          <a:p>
            <a:r>
              <a:rPr lang="fr-FR" sz="2400" dirty="0" smtClean="0"/>
              <a:t>On </a:t>
            </a:r>
            <a:r>
              <a:rPr lang="fr-FR" sz="2400" dirty="0"/>
              <a:t>corrige notre </a:t>
            </a:r>
            <a:r>
              <a:rPr lang="fr-FR" sz="2400" dirty="0" smtClean="0"/>
              <a:t>estimation </a:t>
            </a:r>
            <a:r>
              <a:rPr lang="fr-FR" sz="2400" dirty="0"/>
              <a:t>actuelle vers cette cible</a:t>
            </a:r>
            <a:r>
              <a:rPr lang="fr-FR" sz="2400" dirty="0" smtClean="0"/>
              <a:t>.</a:t>
            </a:r>
          </a:p>
          <a:p>
            <a:r>
              <a:rPr lang="fr-FR" sz="2400" dirty="0"/>
              <a:t>Avantages :</a:t>
            </a:r>
          </a:p>
          <a:p>
            <a:pPr lvl="1"/>
            <a:r>
              <a:rPr lang="fr-FR" sz="2000" dirty="0" smtClean="0"/>
              <a:t>Apprend </a:t>
            </a:r>
            <a:r>
              <a:rPr lang="fr-FR" sz="2000" dirty="0"/>
              <a:t>la politique optimale même si l’agent explore avec une autre politique.</a:t>
            </a:r>
          </a:p>
          <a:p>
            <a:pPr lvl="1"/>
            <a:r>
              <a:rPr lang="fr-FR" sz="2000" dirty="0" smtClean="0"/>
              <a:t>Très </a:t>
            </a:r>
            <a:r>
              <a:rPr lang="fr-FR" sz="2000" dirty="0"/>
              <a:t>efficace et largement utilisé (jeu Atari, robotique, etc.)</a:t>
            </a:r>
          </a:p>
          <a:p>
            <a:r>
              <a:rPr lang="fr-FR" sz="2400" dirty="0" smtClean="0"/>
              <a:t>Inconvénients </a:t>
            </a:r>
            <a:r>
              <a:rPr lang="fr-FR" sz="2400" dirty="0"/>
              <a:t>:</a:t>
            </a:r>
          </a:p>
          <a:p>
            <a:pPr lvl="1"/>
            <a:r>
              <a:rPr lang="fr-FR" sz="2000" dirty="0" smtClean="0"/>
              <a:t>Sensible </a:t>
            </a:r>
            <a:r>
              <a:rPr lang="fr-FR" sz="2000" dirty="0"/>
              <a:t>à la variance et aux explorations insuffisantes.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29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4191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4835624"/>
          </a:xfrm>
        </p:spPr>
        <p:txBody>
          <a:bodyPr/>
          <a:lstStyle/>
          <a:p>
            <a:pPr marL="0" indent="0">
              <a:buNone/>
            </a:pPr>
            <a:r>
              <a:rPr lang="fr-FR" sz="2800" dirty="0" smtClean="0">
                <a:solidFill>
                  <a:srgbClr val="FF0000"/>
                </a:solidFill>
              </a:rPr>
              <a:t>Principe :</a:t>
            </a:r>
          </a:p>
          <a:p>
            <a:r>
              <a:rPr lang="fr-FR" sz="2800" dirty="0"/>
              <a:t>L’agent </a:t>
            </a:r>
            <a:r>
              <a:rPr lang="fr-FR" sz="2800" dirty="0">
                <a:solidFill>
                  <a:srgbClr val="00B0F0"/>
                </a:solidFill>
              </a:rPr>
              <a:t>explore</a:t>
            </a:r>
            <a:r>
              <a:rPr lang="fr-FR" sz="2800" dirty="0"/>
              <a:t> l’environnement en faisant des </a:t>
            </a:r>
            <a:r>
              <a:rPr lang="fr-FR" sz="2800" dirty="0">
                <a:solidFill>
                  <a:srgbClr val="00B0F0"/>
                </a:solidFill>
              </a:rPr>
              <a:t>actions</a:t>
            </a:r>
            <a:r>
              <a:rPr lang="fr-FR" sz="2800" dirty="0"/>
              <a:t> :</a:t>
            </a:r>
          </a:p>
          <a:p>
            <a:pPr marL="804863" lvl="1" indent="-347663"/>
            <a:r>
              <a:rPr lang="fr-FR" sz="2400" dirty="0" smtClean="0"/>
              <a:t>Il </a:t>
            </a:r>
            <a:r>
              <a:rPr lang="fr-FR" sz="2400" dirty="0"/>
              <a:t>observe des </a:t>
            </a:r>
            <a:r>
              <a:rPr lang="fr-FR" sz="2400" b="1" dirty="0"/>
              <a:t>états</a:t>
            </a:r>
            <a:r>
              <a:rPr lang="fr-FR" sz="2400" dirty="0"/>
              <a:t>, des </a:t>
            </a:r>
            <a:r>
              <a:rPr lang="fr-FR" sz="2400" b="1" dirty="0"/>
              <a:t>récompenses</a:t>
            </a:r>
            <a:r>
              <a:rPr lang="fr-FR" sz="2400" dirty="0"/>
              <a:t>, et </a:t>
            </a:r>
            <a:r>
              <a:rPr lang="fr-FR" sz="2400" b="1" dirty="0"/>
              <a:t>apprend</a:t>
            </a:r>
            <a:r>
              <a:rPr lang="fr-FR" sz="2400" dirty="0"/>
              <a:t> petit à petit quelle action donne les meilleures conséquences.</a:t>
            </a:r>
          </a:p>
          <a:p>
            <a:r>
              <a:rPr lang="fr-FR" sz="2800" dirty="0" smtClean="0"/>
              <a:t>Il </a:t>
            </a:r>
            <a:r>
              <a:rPr lang="fr-FR" sz="2800" dirty="0">
                <a:solidFill>
                  <a:srgbClr val="00B0F0"/>
                </a:solidFill>
              </a:rPr>
              <a:t>corrige</a:t>
            </a:r>
            <a:r>
              <a:rPr lang="fr-FR" sz="2800" dirty="0"/>
              <a:t> ses croyances (valeurs Q) à chaque interaction :</a:t>
            </a:r>
          </a:p>
          <a:p>
            <a:pPr lvl="1"/>
            <a:r>
              <a:rPr lang="fr-FR" sz="2400" dirty="0" smtClean="0"/>
              <a:t>Nouvelle </a:t>
            </a:r>
            <a:r>
              <a:rPr lang="fr-FR" sz="2400" dirty="0"/>
              <a:t>estimation = Ancienne estimation + Taux d’apprentissage × Erreur de </a:t>
            </a:r>
            <a:r>
              <a:rPr lang="fr-FR" sz="2400" dirty="0" smtClean="0"/>
              <a:t>prédiction</a:t>
            </a:r>
          </a:p>
          <a:p>
            <a:pPr lvl="1"/>
            <a:endParaRPr lang="fr-FR" sz="2400" dirty="0"/>
          </a:p>
          <a:p>
            <a:pPr lvl="1"/>
            <a:endParaRPr lang="fr-FR" sz="2400" dirty="0"/>
          </a:p>
          <a:p>
            <a:r>
              <a:rPr lang="fr-FR" sz="2800" dirty="0" smtClean="0"/>
              <a:t>Cette </a:t>
            </a:r>
            <a:r>
              <a:rPr lang="fr-FR" sz="2800" dirty="0"/>
              <a:t>erreur de prédiction est appelée erreur de Bellman. 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30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80" y="4653136"/>
            <a:ext cx="6013739" cy="59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37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972800" cy="1244028"/>
          </a:xfrm>
        </p:spPr>
        <p:txBody>
          <a:bodyPr/>
          <a:lstStyle/>
          <a:p>
            <a:pPr marL="0" indent="0">
              <a:buNone/>
            </a:pPr>
            <a:r>
              <a:rPr lang="fr-FR" sz="2800" dirty="0">
                <a:solidFill>
                  <a:srgbClr val="FF0000"/>
                </a:solidFill>
              </a:rPr>
              <a:t>Équation de mise à jour</a:t>
            </a:r>
            <a:r>
              <a:rPr lang="fr-FR" sz="2800" dirty="0" smtClean="0">
                <a:solidFill>
                  <a:srgbClr val="FF0000"/>
                </a:solidFill>
              </a:rPr>
              <a:t> :</a:t>
            </a:r>
          </a:p>
          <a:p>
            <a:endParaRPr lang="fr-FR" sz="2800" dirty="0" smtClean="0"/>
          </a:p>
          <a:p>
            <a:endParaRPr lang="fr-FR" sz="28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31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29" y="2058576"/>
            <a:ext cx="6013739" cy="5959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au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832865"/>
                  </p:ext>
                </p:extLst>
              </p:nvPr>
            </p:nvGraphicFramePr>
            <p:xfrm>
              <a:off x="5405027" y="2948017"/>
              <a:ext cx="6451613" cy="2929255"/>
            </p:xfrm>
            <a:graphic>
              <a:graphicData uri="http://schemas.openxmlformats.org/drawingml/2006/table">
                <a:tbl>
                  <a:tblPr>
                    <a:tableStyleId>{08FB837D-C827-4EFA-A057-4D05807E0F7C}</a:tableStyleId>
                  </a:tblPr>
                  <a:tblGrid>
                    <a:gridCol w="1584176">
                      <a:extLst>
                        <a:ext uri="{9D8B030D-6E8A-4147-A177-3AD203B41FA5}">
                          <a16:colId xmlns:a16="http://schemas.microsoft.com/office/drawing/2014/main" val="2039997094"/>
                        </a:ext>
                      </a:extLst>
                    </a:gridCol>
                    <a:gridCol w="4867437">
                      <a:extLst>
                        <a:ext uri="{9D8B030D-6E8A-4147-A177-3AD203B41FA5}">
                          <a16:colId xmlns:a16="http://schemas.microsoft.com/office/drawing/2014/main" val="12947532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Symbole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Signification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010635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état courant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50802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action exécutée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8518075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récompense immédiate reçue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381094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nouvel état atteint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045754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>
                              <a:solidFill>
                                <a:schemeClr val="tx1"/>
                              </a:solidFill>
                            </a:rPr>
                            <a:t>α</a:t>
                          </a: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taux d’apprentissage (0 &lt; α ≤ 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135583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>
                              <a:solidFill>
                                <a:schemeClr val="tx1"/>
                              </a:solidFill>
                            </a:rPr>
                            <a:t>γ</a:t>
                          </a: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facteur d’actualisation (0 ≤ γ &lt; 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73853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𝑚𝑎𝑥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p>
                                        <m:r>
                                          <a:rPr lang="fr-FR" sz="18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sub>
                                </m:sSub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fr-FR" sz="18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fr-FR" sz="1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fr-FR" sz="1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meilleure valeur estimée depuis l’état suivant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265170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au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13832865"/>
                  </p:ext>
                </p:extLst>
              </p:nvPr>
            </p:nvGraphicFramePr>
            <p:xfrm>
              <a:off x="5405027" y="2948017"/>
              <a:ext cx="6451613" cy="2929255"/>
            </p:xfrm>
            <a:graphic>
              <a:graphicData uri="http://schemas.openxmlformats.org/drawingml/2006/table">
                <a:tbl>
                  <a:tblPr>
                    <a:tableStyleId>{08FB837D-C827-4EFA-A057-4D05807E0F7C}</a:tableStyleId>
                  </a:tblPr>
                  <a:tblGrid>
                    <a:gridCol w="1584176">
                      <a:extLst>
                        <a:ext uri="{9D8B030D-6E8A-4147-A177-3AD203B41FA5}">
                          <a16:colId xmlns:a16="http://schemas.microsoft.com/office/drawing/2014/main" val="2039997094"/>
                        </a:ext>
                      </a:extLst>
                    </a:gridCol>
                    <a:gridCol w="4867437">
                      <a:extLst>
                        <a:ext uri="{9D8B030D-6E8A-4147-A177-3AD203B41FA5}">
                          <a16:colId xmlns:a16="http://schemas.microsoft.com/office/drawing/2014/main" val="129475320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>
                              <a:solidFill>
                                <a:schemeClr val="tx1"/>
                              </a:solidFill>
                            </a:rPr>
                            <a:t>Symbole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Signification</a:t>
                          </a:r>
                        </a:p>
                      </a:txBody>
                      <a:tcPr anchor="ctr">
                        <a:solidFill>
                          <a:srgbClr val="E6EEA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010635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92" t="-108333" r="-310769" b="-62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état courant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5508025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92" t="-204918" r="-310769" b="-51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action exécutée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8518075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>
                              <a:solidFill>
                                <a:schemeClr val="tx1"/>
                              </a:solidFill>
                            </a:rPr>
                            <a:t>r</a:t>
                          </a: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récompense immédiate reçue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338109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92" t="-410000" r="-310769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/>
                            <a:t>nouvel état atteint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0045754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>
                              <a:solidFill>
                                <a:schemeClr val="tx1"/>
                              </a:solidFill>
                            </a:rPr>
                            <a:t>α</a:t>
                          </a: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taux d’apprentissage (0 &lt; α ≤ 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135583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dirty="0" smtClean="0">
                              <a:solidFill>
                                <a:schemeClr val="tx1"/>
                              </a:solidFill>
                            </a:rPr>
                            <a:t>γ</a:t>
                          </a:r>
                          <a:endParaRPr lang="fr-FR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facteur d’actualisation (0 ≤ γ &lt; 1)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77385368"/>
                      </a:ext>
                    </a:extLst>
                  </a:tr>
                  <a:tr h="36893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692" t="-698361" r="-310769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/>
                            <a:t>meilleure valeur estimée depuis l’état suivant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265170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35360" y="2778656"/>
                <a:ext cx="4680520" cy="35580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2075"/>
                <a:r>
                  <a:rPr lang="fr-FR" sz="1800" b="1" dirty="0" smtClean="0"/>
                  <a:t>Interprétation</a:t>
                </a:r>
              </a:p>
              <a:p>
                <a:pPr marL="92075"/>
                <a:endParaRPr lang="fr-FR" sz="1800" b="1" dirty="0" smtClean="0"/>
              </a:p>
              <a:p>
                <a:pPr marL="360000" indent="-285750">
                  <a:buFont typeface="Arial" panose="020B0604020202020204" pitchFamily="34" charset="0"/>
                  <a:buChar char="•"/>
                </a:pPr>
                <a:r>
                  <a:rPr lang="fr-FR" sz="1800" dirty="0">
                    <a:solidFill>
                      <a:srgbClr val="FF0000"/>
                    </a:solidFill>
                  </a:rPr>
                  <a:t>Q(</a:t>
                </a:r>
                <a:r>
                  <a:rPr lang="fr-FR" sz="1800" dirty="0" err="1">
                    <a:solidFill>
                      <a:srgbClr val="FF0000"/>
                    </a:solidFill>
                  </a:rPr>
                  <a:t>s,a</a:t>
                </a:r>
                <a:r>
                  <a:rPr lang="fr-FR" sz="1800" dirty="0">
                    <a:solidFill>
                      <a:srgbClr val="FF0000"/>
                    </a:solidFill>
                  </a:rPr>
                  <a:t>)</a:t>
                </a:r>
                <a:r>
                  <a:rPr lang="fr-FR" sz="1800" dirty="0"/>
                  <a:t> = ce que je crois que vaut cette action</a:t>
                </a:r>
                <a:r>
                  <a:rPr lang="fr-FR" sz="1800" dirty="0" smtClean="0"/>
                  <a:t>.</a:t>
                </a:r>
              </a:p>
              <a:p>
                <a:pPr marL="74250"/>
                <a:endParaRPr lang="fr-FR" sz="900" dirty="0"/>
              </a:p>
              <a:p>
                <a:pPr marL="36000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a:rPr lang="fr-F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fr-F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  <m: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sSup>
                          <m:sSupPr>
                            <m:ctrlPr>
                              <a:rPr lang="fr-FR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fr-FR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fr-F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r>
                      <a:rPr lang="fr-F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fr-FR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fr-FR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800" dirty="0" smtClean="0">
                    <a:solidFill>
                      <a:srgbClr val="FF0000"/>
                    </a:solidFill>
                  </a:rPr>
                  <a:t> </a:t>
                </a:r>
                <a:r>
                  <a:rPr lang="fr-FR" sz="1800" dirty="0" smtClean="0"/>
                  <a:t>= </a:t>
                </a:r>
                <a:r>
                  <a:rPr lang="fr-FR" sz="1800" dirty="0"/>
                  <a:t>ce que j’ai observé qu’elle valait réellement </a:t>
                </a:r>
                <a:r>
                  <a:rPr lang="fr-FR" sz="1800" dirty="0" smtClean="0"/>
                  <a:t>      (</a:t>
                </a:r>
                <a:r>
                  <a:rPr lang="fr-FR" sz="1800" dirty="0"/>
                  <a:t>récompense + futur</a:t>
                </a:r>
                <a:r>
                  <a:rPr lang="fr-FR" sz="1800" dirty="0" smtClean="0"/>
                  <a:t>).</a:t>
                </a:r>
              </a:p>
              <a:p>
                <a:pPr marL="360000" indent="-285750">
                  <a:buFont typeface="Arial" panose="020B0604020202020204" pitchFamily="34" charset="0"/>
                  <a:buChar char="•"/>
                </a:pPr>
                <a:endParaRPr lang="fr-FR" sz="900" dirty="0"/>
              </a:p>
              <a:p>
                <a:pPr marL="360000" indent="-285750">
                  <a:buFont typeface="Arial" panose="020B0604020202020204" pitchFamily="34" charset="0"/>
                  <a:buChar char="•"/>
                </a:pPr>
                <a:r>
                  <a:rPr lang="fr-FR" sz="1800" dirty="0" smtClean="0">
                    <a:solidFill>
                      <a:srgbClr val="FF0000"/>
                    </a:solidFill>
                  </a:rPr>
                  <a:t>α</a:t>
                </a:r>
                <a:r>
                  <a:rPr lang="fr-FR" sz="1800" dirty="0" smtClean="0"/>
                  <a:t> </a:t>
                </a:r>
                <a:r>
                  <a:rPr lang="fr-FR" sz="1800" dirty="0"/>
                  <a:t>= vitesse d’ajustement entre croyance et observation</a:t>
                </a:r>
                <a:r>
                  <a:rPr lang="fr-FR" sz="1800" dirty="0" smtClean="0"/>
                  <a:t>.</a:t>
                </a:r>
              </a:p>
              <a:p>
                <a:pPr marL="360000" indent="-285750">
                  <a:buFont typeface="Arial" panose="020B0604020202020204" pitchFamily="34" charset="0"/>
                  <a:buChar char="•"/>
                </a:pPr>
                <a:endParaRPr lang="fr-FR" sz="900" dirty="0"/>
              </a:p>
              <a:p>
                <a:pPr marL="360000" indent="-285750">
                  <a:buFont typeface="Arial" panose="020B0604020202020204" pitchFamily="34" charset="0"/>
                  <a:buChar char="•"/>
                </a:pPr>
                <a:r>
                  <a:rPr lang="fr-FR" sz="1800" dirty="0" smtClean="0"/>
                  <a:t>L’algorithme </a:t>
                </a:r>
                <a:r>
                  <a:rPr lang="fr-FR" sz="1800" dirty="0"/>
                  <a:t>rapproche progressivement Q(</a:t>
                </a:r>
                <a:r>
                  <a:rPr lang="fr-FR" sz="1800" dirty="0" err="1"/>
                  <a:t>s,a</a:t>
                </a:r>
                <a:r>
                  <a:rPr lang="fr-FR" sz="1800" dirty="0" smtClean="0"/>
                  <a:t>) </a:t>
                </a:r>
                <a:r>
                  <a:rPr lang="fr-FR" sz="1800" dirty="0"/>
                  <a:t>de la vraie valeur Q∗(</a:t>
                </a:r>
                <a:r>
                  <a:rPr lang="fr-FR" sz="1800" dirty="0" err="1"/>
                  <a:t>s,a</a:t>
                </a:r>
                <a:r>
                  <a:rPr lang="fr-FR" sz="1800" dirty="0"/>
                  <a:t>)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60" y="2778656"/>
                <a:ext cx="4680520" cy="3558025"/>
              </a:xfrm>
              <a:prstGeom prst="rect">
                <a:avLst/>
              </a:prstGeom>
              <a:blipFill>
                <a:blip r:embed="rId4"/>
                <a:stretch>
                  <a:fillRect t="-1029" r="-2214" b="-18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76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907632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>
                <a:solidFill>
                  <a:srgbClr val="FF0000"/>
                </a:solidFill>
              </a:rPr>
              <a:t>Politique d’action : </a:t>
            </a:r>
            <a:r>
              <a:rPr lang="fr-FR" sz="2400" dirty="0" smtClean="0">
                <a:solidFill>
                  <a:srgbClr val="FF0000"/>
                </a:solidFill>
              </a:rPr>
              <a:t>exploration/exploitation</a:t>
            </a:r>
          </a:p>
          <a:p>
            <a:r>
              <a:rPr lang="fr-FR" sz="2400" dirty="0"/>
              <a:t>L’agent doit à la fois :</a:t>
            </a:r>
          </a:p>
          <a:p>
            <a:pPr lvl="1"/>
            <a:r>
              <a:rPr lang="fr-FR" sz="2000" b="1" dirty="0"/>
              <a:t>Exploiter</a:t>
            </a:r>
            <a:r>
              <a:rPr lang="fr-FR" sz="2000" dirty="0"/>
              <a:t> ce qu’il a appris (faire les meilleures actions connues),</a:t>
            </a:r>
          </a:p>
          <a:p>
            <a:pPr lvl="1"/>
            <a:r>
              <a:rPr lang="fr-FR" sz="2000" b="1" dirty="0"/>
              <a:t>Explorer</a:t>
            </a:r>
            <a:r>
              <a:rPr lang="fr-FR" sz="2000" dirty="0"/>
              <a:t> pour découvrir d’autres actions (peut-être meilleures).</a:t>
            </a:r>
          </a:p>
          <a:p>
            <a:r>
              <a:rPr lang="fr-FR" sz="2400" dirty="0"/>
              <a:t>La stratégie la plus utilisée : </a:t>
            </a:r>
            <a:r>
              <a:rPr lang="fr-FR" sz="2400" b="1" dirty="0"/>
              <a:t>ε-</a:t>
            </a:r>
            <a:r>
              <a:rPr lang="fr-FR" sz="2400" b="1" dirty="0" err="1"/>
              <a:t>greedy</a:t>
            </a:r>
            <a:r>
              <a:rPr lang="fr-FR" sz="2400" dirty="0" smtClean="0"/>
              <a:t>.</a:t>
            </a:r>
          </a:p>
          <a:p>
            <a:endParaRPr lang="fr-FR" sz="2400" dirty="0"/>
          </a:p>
          <a:p>
            <a:endParaRPr lang="fr-FR" sz="2400" dirty="0" smtClean="0"/>
          </a:p>
          <a:p>
            <a:endParaRPr lang="fr-FR" sz="2400" dirty="0" smtClean="0"/>
          </a:p>
          <a:p>
            <a:endParaRPr lang="fr-FR" sz="2400" dirty="0" smtClean="0"/>
          </a:p>
          <a:p>
            <a:r>
              <a:rPr lang="fr-FR" sz="2400" dirty="0"/>
              <a:t>Avec probabilité 1−ε, on choisit la meilleure action connue.</a:t>
            </a:r>
          </a:p>
          <a:p>
            <a:r>
              <a:rPr lang="fr-FR" sz="2400" dirty="0" smtClean="0"/>
              <a:t>Avec </a:t>
            </a:r>
            <a:r>
              <a:rPr lang="fr-FR" sz="2400" dirty="0"/>
              <a:t>probabilité ε, on choisit une action aléatoire.</a:t>
            </a:r>
          </a:p>
          <a:p>
            <a:endParaRPr lang="fr-FR" sz="24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32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142" y="3645024"/>
            <a:ext cx="5973715" cy="107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1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4681103"/>
            <a:ext cx="5530800" cy="548097"/>
          </a:xfrm>
          <a:prstGeom prst="rect">
            <a:avLst/>
          </a:prstGeom>
        </p:spPr>
      </p:pic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700808"/>
            <a:ext cx="7070576" cy="4104456"/>
          </a:xfrm>
        </p:spPr>
        <p:txBody>
          <a:bodyPr/>
          <a:lstStyle/>
          <a:p>
            <a:pPr marL="0" indent="0">
              <a:buNone/>
            </a:pPr>
            <a:r>
              <a:rPr lang="fr-FR" sz="2400" dirty="0" err="1">
                <a:solidFill>
                  <a:srgbClr val="FF0000"/>
                </a:solidFill>
              </a:rPr>
              <a:t>P</a:t>
            </a:r>
            <a:r>
              <a:rPr lang="fr-FR" sz="2400" dirty="0" err="1" smtClean="0">
                <a:solidFill>
                  <a:srgbClr val="FF0000"/>
                </a:solidFill>
              </a:rPr>
              <a:t>seudo-code</a:t>
            </a:r>
            <a:endParaRPr lang="fr-FR" sz="24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/>
              <a:t>Initialiser Q(</a:t>
            </a:r>
            <a:r>
              <a:rPr lang="fr-FR" sz="2000" dirty="0" err="1"/>
              <a:t>s,a</a:t>
            </a:r>
            <a:r>
              <a:rPr lang="fr-FR" sz="2000" dirty="0"/>
              <a:t>) = 0 pour tous s, a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Pour </a:t>
            </a:r>
            <a:r>
              <a:rPr lang="fr-FR" sz="2000" dirty="0"/>
              <a:t>chaque épisode :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/>
              <a:t> </a:t>
            </a:r>
            <a:r>
              <a:rPr lang="fr-FR" sz="2000" dirty="0" smtClean="0"/>
              <a:t>    s </a:t>
            </a:r>
            <a:r>
              <a:rPr lang="fr-FR" sz="2000" dirty="0"/>
              <a:t>= </a:t>
            </a:r>
            <a:r>
              <a:rPr lang="fr-FR" sz="2000" dirty="0" err="1"/>
              <a:t>état_initial</a:t>
            </a:r>
            <a:r>
              <a:rPr lang="fr-FR" sz="2000" dirty="0"/>
              <a:t> </a:t>
            </a:r>
          </a:p>
          <a:p>
            <a:pPr marL="0" indent="0">
              <a:buNone/>
            </a:pPr>
            <a:r>
              <a:rPr lang="fr-FR" sz="2000" dirty="0" smtClean="0"/>
              <a:t>          Tant </a:t>
            </a:r>
            <a:r>
              <a:rPr lang="fr-FR" sz="2000" dirty="0"/>
              <a:t>que s n'est pas terminal :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               Choisir </a:t>
            </a:r>
            <a:r>
              <a:rPr lang="fr-FR" sz="2000" dirty="0"/>
              <a:t>action a (ε-</a:t>
            </a:r>
            <a:r>
              <a:rPr lang="fr-FR" sz="2000" dirty="0" err="1"/>
              <a:t>greedy</a:t>
            </a:r>
            <a:r>
              <a:rPr lang="fr-FR" sz="2000" dirty="0"/>
              <a:t> sur Q(s,:))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/>
              <a:t>	 </a:t>
            </a:r>
            <a:r>
              <a:rPr lang="fr-FR" sz="2000" dirty="0" smtClean="0"/>
              <a:t> Exécuter </a:t>
            </a:r>
            <a:r>
              <a:rPr lang="fr-FR" sz="2000" dirty="0"/>
              <a:t>a, observer récompense r et nouvel état </a:t>
            </a:r>
            <a:r>
              <a:rPr lang="fr-FR" sz="2000" dirty="0" smtClean="0"/>
              <a:t>s‘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dirty="0" smtClean="0"/>
              <a:t>	</a:t>
            </a:r>
            <a:r>
              <a:rPr lang="fr-FR" sz="2000" dirty="0"/>
              <a:t> </a:t>
            </a:r>
            <a:r>
              <a:rPr lang="fr-FR" sz="2000" dirty="0" smtClean="0"/>
              <a:t> s </a:t>
            </a:r>
            <a:r>
              <a:rPr lang="fr-FR" sz="2000" dirty="0"/>
              <a:t>← s' </a:t>
            </a:r>
            <a:endParaRPr lang="fr-FR" sz="2000" dirty="0" smtClean="0"/>
          </a:p>
          <a:p>
            <a:pPr marL="0" indent="0">
              <a:buNone/>
            </a:pPr>
            <a:r>
              <a:rPr lang="fr-FR" sz="2000" dirty="0" smtClean="0"/>
              <a:t>Fin</a:t>
            </a:r>
            <a:endParaRPr lang="fr-FR" sz="2000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33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601216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sp>
        <p:nvSpPr>
          <p:cNvPr id="2" name="Rectangle 1"/>
          <p:cNvSpPr/>
          <p:nvPr/>
        </p:nvSpPr>
        <p:spPr>
          <a:xfrm>
            <a:off x="6960096" y="1268760"/>
            <a:ext cx="4807072" cy="28161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fr-FR" sz="1800" b="1" dirty="0"/>
              <a:t>Les ingrédients</a:t>
            </a:r>
          </a:p>
          <a:p>
            <a:pPr marL="360000" indent="-342900">
              <a:spcBef>
                <a:spcPts val="300"/>
              </a:spcBef>
              <a:buFont typeface="+mj-lt"/>
              <a:buAutoNum type="arabicPeriod"/>
            </a:pPr>
            <a:r>
              <a:rPr lang="fr-FR" sz="1800" b="1" dirty="0" smtClean="0"/>
              <a:t>Table </a:t>
            </a:r>
            <a:r>
              <a:rPr lang="fr-FR" sz="1800" b="1" dirty="0"/>
              <a:t>Q</a:t>
            </a:r>
            <a:r>
              <a:rPr lang="fr-FR" sz="1800" dirty="0"/>
              <a:t> : </a:t>
            </a:r>
            <a:endParaRPr lang="fr-FR" sz="1800" dirty="0" smtClean="0"/>
          </a:p>
          <a:p>
            <a:pPr marL="360000">
              <a:spcBef>
                <a:spcPts val="300"/>
              </a:spcBef>
            </a:pPr>
            <a:r>
              <a:rPr lang="fr-FR" sz="1800" dirty="0" smtClean="0"/>
              <a:t>	Initialisée </a:t>
            </a:r>
            <a:r>
              <a:rPr lang="fr-FR" sz="1800" dirty="0"/>
              <a:t>à 0 (ou valeurs aléatoires)</a:t>
            </a:r>
          </a:p>
          <a:p>
            <a:pPr marL="360000" indent="-342900">
              <a:spcBef>
                <a:spcPts val="300"/>
              </a:spcBef>
              <a:buFont typeface="+mj-lt"/>
              <a:buAutoNum type="arabicPeriod" startAt="2"/>
            </a:pPr>
            <a:r>
              <a:rPr lang="fr-FR" sz="1800" b="1" dirty="0" smtClean="0"/>
              <a:t>Politique </a:t>
            </a:r>
            <a:r>
              <a:rPr lang="fr-FR" sz="1800" b="1" dirty="0"/>
              <a:t>d'exploration</a:t>
            </a:r>
            <a:r>
              <a:rPr lang="fr-FR" sz="1800" dirty="0"/>
              <a:t> : Comment choisir les actions ?</a:t>
            </a:r>
          </a:p>
          <a:p>
            <a:pPr marL="360000">
              <a:spcBef>
                <a:spcPts val="300"/>
              </a:spcBef>
            </a:pPr>
            <a:r>
              <a:rPr lang="fr-FR" sz="1800" dirty="0"/>
              <a:t>ε-</a:t>
            </a:r>
            <a:r>
              <a:rPr lang="fr-FR" sz="1800" dirty="0" err="1"/>
              <a:t>greedy</a:t>
            </a:r>
            <a:r>
              <a:rPr lang="fr-FR" sz="1800" dirty="0"/>
              <a:t> : 90% prendre la meilleure, 10% explorer au </a:t>
            </a:r>
            <a:r>
              <a:rPr lang="fr-FR" sz="1800" dirty="0" smtClean="0"/>
              <a:t>hasard</a:t>
            </a:r>
          </a:p>
          <a:p>
            <a:pPr marL="360000" indent="-342900">
              <a:spcBef>
                <a:spcPts val="300"/>
              </a:spcBef>
              <a:buFont typeface="+mj-lt"/>
              <a:buAutoNum type="arabicPeriod" startAt="3"/>
            </a:pPr>
            <a:r>
              <a:rPr lang="fr-FR" sz="1800" b="1" dirty="0" smtClean="0"/>
              <a:t>Règle </a:t>
            </a:r>
            <a:r>
              <a:rPr lang="fr-FR" sz="1800" b="1" dirty="0"/>
              <a:t>de mise à </a:t>
            </a:r>
            <a:r>
              <a:rPr lang="fr-FR" sz="1800" b="1" dirty="0" smtClean="0"/>
              <a:t>jour</a:t>
            </a:r>
          </a:p>
          <a:p>
            <a:pPr marL="360000" indent="-342900">
              <a:spcBef>
                <a:spcPts val="300"/>
              </a:spcBef>
              <a:buFont typeface="+mj-lt"/>
              <a:buAutoNum type="arabicPeriod" startAt="3"/>
            </a:pPr>
            <a:r>
              <a:rPr lang="fr-FR" sz="1800" b="1" dirty="0" smtClean="0"/>
              <a:t>Répéter</a:t>
            </a:r>
            <a:r>
              <a:rPr lang="fr-FR" sz="1800" dirty="0" smtClean="0"/>
              <a:t> </a:t>
            </a:r>
            <a:r>
              <a:rPr lang="fr-FR" sz="1800" dirty="0"/>
              <a:t>jusqu'à convergence</a:t>
            </a:r>
          </a:p>
        </p:txBody>
      </p:sp>
    </p:spTree>
    <p:extLst>
      <p:ext uri="{BB962C8B-B14F-4D97-AF65-F5344CB8AC3E}">
        <p14:creationId xmlns:p14="http://schemas.microsoft.com/office/powerpoint/2010/main" val="285034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7408" y="1667096"/>
            <a:ext cx="10972800" cy="4598640"/>
          </a:xfrm>
        </p:spPr>
        <p:txBody>
          <a:bodyPr/>
          <a:lstStyle/>
          <a:p>
            <a:pPr marL="0" indent="0">
              <a:buNone/>
            </a:pPr>
            <a:r>
              <a:rPr lang="fr-FR" sz="2400" b="1" dirty="0" smtClean="0">
                <a:solidFill>
                  <a:srgbClr val="FF0000"/>
                </a:solidFill>
              </a:rPr>
              <a:t>Exemple</a:t>
            </a:r>
            <a:r>
              <a:rPr lang="fr-FR" sz="2400" dirty="0" smtClean="0"/>
              <a:t> </a:t>
            </a:r>
          </a:p>
          <a:p>
            <a:pPr marL="0" indent="0">
              <a:buNone/>
            </a:pPr>
            <a:endParaRPr lang="fr-FR" sz="1000" dirty="0" smtClean="0"/>
          </a:p>
          <a:p>
            <a:r>
              <a:rPr lang="fr-FR" sz="2400" dirty="0"/>
              <a:t>Utilisons </a:t>
            </a:r>
            <a:r>
              <a:rPr lang="fr-FR" sz="2400" dirty="0" smtClean="0"/>
              <a:t>la </a:t>
            </a:r>
            <a:r>
              <a:rPr lang="fr-FR" sz="2400" dirty="0"/>
              <a:t>grille simplifiée </a:t>
            </a:r>
            <a:r>
              <a:rPr lang="fr-FR" sz="2400" dirty="0" smtClean="0"/>
              <a:t>:</a:t>
            </a:r>
          </a:p>
          <a:p>
            <a:pPr marL="0" indent="0">
              <a:buNone/>
            </a:pPr>
            <a:endParaRPr lang="fr-FR" sz="1600" dirty="0" smtClean="0"/>
          </a:p>
          <a:p>
            <a:r>
              <a:rPr lang="fr-FR" sz="2400" b="1" dirty="0"/>
              <a:t>Règles : </a:t>
            </a:r>
            <a:endParaRPr lang="fr-FR" sz="2400" b="1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/>
              <a:t>Départ </a:t>
            </a:r>
            <a:r>
              <a:rPr lang="fr-FR" sz="2000" dirty="0"/>
              <a:t>: S3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/>
              <a:t>But </a:t>
            </a:r>
            <a:r>
              <a:rPr lang="fr-FR" sz="2000" dirty="0"/>
              <a:t>: S2 (+10)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/>
              <a:t>Piège : S4 (-</a:t>
            </a:r>
            <a:r>
              <a:rPr lang="fr-FR" sz="2000" dirty="0"/>
              <a:t>5)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/>
              <a:t>Autres </a:t>
            </a:r>
            <a:r>
              <a:rPr lang="fr-FR" sz="2000" dirty="0"/>
              <a:t>transitions : 0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/>
              <a:t>Actions </a:t>
            </a:r>
            <a:r>
              <a:rPr lang="fr-FR" sz="2000" dirty="0"/>
              <a:t>: ↑, →, ↓, ← (si possible)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fr-FR" sz="2000" dirty="0" smtClean="0"/>
              <a:t>γ </a:t>
            </a:r>
            <a:r>
              <a:rPr lang="fr-FR" sz="2000" dirty="0"/>
              <a:t>= 0.9, α = 0.1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34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373923"/>
              </p:ext>
            </p:extLst>
          </p:nvPr>
        </p:nvGraphicFramePr>
        <p:xfrm>
          <a:off x="5221040" y="1435916"/>
          <a:ext cx="2065536" cy="1245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512">
                  <a:extLst>
                    <a:ext uri="{9D8B030D-6E8A-4147-A177-3AD203B41FA5}">
                      <a16:colId xmlns:a16="http://schemas.microsoft.com/office/drawing/2014/main" val="2467633850"/>
                    </a:ext>
                  </a:extLst>
                </a:gridCol>
                <a:gridCol w="688512">
                  <a:extLst>
                    <a:ext uri="{9D8B030D-6E8A-4147-A177-3AD203B41FA5}">
                      <a16:colId xmlns:a16="http://schemas.microsoft.com/office/drawing/2014/main" val="3644447114"/>
                    </a:ext>
                  </a:extLst>
                </a:gridCol>
                <a:gridCol w="688512">
                  <a:extLst>
                    <a:ext uri="{9D8B030D-6E8A-4147-A177-3AD203B41FA5}">
                      <a16:colId xmlns:a16="http://schemas.microsoft.com/office/drawing/2014/main" val="2350914970"/>
                    </a:ext>
                  </a:extLst>
                </a:gridCol>
              </a:tblGrid>
              <a:tr h="622575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061712"/>
                  </a:ext>
                </a:extLst>
              </a:tr>
              <a:tr h="622575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377818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00056" y="2807702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/>
              <a:t>Initialisation</a:t>
            </a:r>
          </a:p>
          <a:p>
            <a:r>
              <a:rPr lang="fr-FR" sz="1800" b="1" dirty="0"/>
              <a:t>Table Q initiale</a:t>
            </a:r>
            <a:r>
              <a:rPr lang="fr-FR" sz="1800" dirty="0"/>
              <a:t> (tous à zéro) :</a:t>
            </a:r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51296"/>
              </p:ext>
            </p:extLst>
          </p:nvPr>
        </p:nvGraphicFramePr>
        <p:xfrm>
          <a:off x="6600056" y="3695035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56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Épisode 1 : Première exploration</a:t>
            </a:r>
          </a:p>
          <a:p>
            <a:r>
              <a:rPr lang="fr-FR" sz="2000" b="1" dirty="0"/>
              <a:t>Étape 1</a:t>
            </a:r>
            <a:r>
              <a:rPr lang="fr-FR" sz="2000" dirty="0"/>
              <a:t> : s = S3, on choisit → (au hasard</a:t>
            </a:r>
            <a:r>
              <a:rPr lang="fr-FR" sz="2000" dirty="0" smtClean="0"/>
              <a:t>)</a:t>
            </a:r>
          </a:p>
          <a:p>
            <a:endParaRPr lang="fr-FR" sz="2000" dirty="0" smtClean="0"/>
          </a:p>
          <a:p>
            <a:endParaRPr lang="fr-FR" sz="2000" dirty="0"/>
          </a:p>
          <a:p>
            <a:endParaRPr lang="fr-FR" sz="2000" dirty="0" smtClean="0"/>
          </a:p>
          <a:p>
            <a:endParaRPr lang="fr-FR" sz="1050" dirty="0" smtClean="0"/>
          </a:p>
          <a:p>
            <a:pPr lvl="1"/>
            <a:r>
              <a:rPr lang="fr-FR" sz="1600" b="1" dirty="0"/>
              <a:t>Mise à jour Q(S3, →)</a:t>
            </a:r>
            <a:r>
              <a:rPr lang="fr-FR" sz="1600" dirty="0"/>
              <a:t> </a:t>
            </a:r>
            <a:r>
              <a:rPr lang="fr-FR" sz="1600" dirty="0" smtClean="0"/>
              <a:t>:</a:t>
            </a:r>
          </a:p>
          <a:p>
            <a:endParaRPr lang="fr-FR" sz="2000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35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224" y="2204864"/>
            <a:ext cx="3384376" cy="93704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232" y="3789040"/>
            <a:ext cx="5344723" cy="2848319"/>
          </a:xfrm>
          <a:prstGeom prst="rect">
            <a:avLst/>
          </a:prstGeom>
        </p:spPr>
      </p:pic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018832"/>
              </p:ext>
            </p:extLst>
          </p:nvPr>
        </p:nvGraphicFramePr>
        <p:xfrm>
          <a:off x="7248128" y="1916832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-0,5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776072" y="1340768"/>
            <a:ext cx="1008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 smtClean="0"/>
              <a:t>Q-table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62804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Épisode 1 : Première exploration</a:t>
            </a:r>
          </a:p>
          <a:p>
            <a:r>
              <a:rPr lang="fr-FR" sz="2000" b="1" dirty="0"/>
              <a:t>Étape 2</a:t>
            </a:r>
            <a:r>
              <a:rPr lang="fr-FR" sz="2000" dirty="0"/>
              <a:t> : s = S4, on choisit ↑ (au hasard)</a:t>
            </a:r>
            <a:endParaRPr lang="fr-FR" sz="2000" dirty="0" smtClean="0"/>
          </a:p>
          <a:p>
            <a:endParaRPr lang="fr-FR" sz="2000" dirty="0"/>
          </a:p>
          <a:p>
            <a:endParaRPr lang="fr-FR" sz="2000" dirty="0" smtClean="0"/>
          </a:p>
          <a:p>
            <a:endParaRPr lang="fr-FR" sz="2000" dirty="0" smtClean="0"/>
          </a:p>
          <a:p>
            <a:pPr lvl="1"/>
            <a:r>
              <a:rPr lang="fr-FR" sz="1600" b="1" dirty="0"/>
              <a:t>Mise à jour Q(S4, ↑)</a:t>
            </a:r>
            <a:r>
              <a:rPr lang="fr-FR" sz="1600" dirty="0"/>
              <a:t> </a:t>
            </a:r>
            <a:r>
              <a:rPr lang="fr-FR" sz="1600" dirty="0" smtClean="0"/>
              <a:t>:</a:t>
            </a:r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r>
              <a:rPr lang="fr-FR" sz="2000" dirty="0"/>
              <a:t>Pas de changement (car tout est encore à 0 pour S1).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36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135538"/>
              </p:ext>
            </p:extLst>
          </p:nvPr>
        </p:nvGraphicFramePr>
        <p:xfrm>
          <a:off x="7248128" y="1916832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-0,5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4" y="2132856"/>
            <a:ext cx="2621090" cy="100811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552" y="3636092"/>
            <a:ext cx="3994254" cy="15211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76072" y="1340768"/>
            <a:ext cx="1008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 smtClean="0"/>
              <a:t>Q-table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542696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Épisode 1 : Première exploration</a:t>
            </a:r>
          </a:p>
          <a:p>
            <a:r>
              <a:rPr lang="fr-FR" sz="2000" b="1" dirty="0"/>
              <a:t>Étape 3</a:t>
            </a:r>
            <a:r>
              <a:rPr lang="fr-FR" sz="2000" dirty="0"/>
              <a:t> : s = S1, on choisit → (au hasard)</a:t>
            </a:r>
          </a:p>
          <a:p>
            <a:endParaRPr lang="fr-FR" sz="2000" dirty="0" smtClean="0"/>
          </a:p>
          <a:p>
            <a:endParaRPr lang="fr-FR" sz="2000" dirty="0" smtClean="0"/>
          </a:p>
          <a:p>
            <a:endParaRPr lang="fr-FR" sz="2000" dirty="0" smtClean="0"/>
          </a:p>
          <a:p>
            <a:pPr lvl="1"/>
            <a:r>
              <a:rPr lang="fr-FR" sz="1600" b="1" dirty="0"/>
              <a:t>Mise à jour Q(S1, →)</a:t>
            </a:r>
            <a:r>
              <a:rPr lang="fr-FR" sz="1600" dirty="0"/>
              <a:t> </a:t>
            </a:r>
            <a:r>
              <a:rPr lang="fr-FR" sz="1600" dirty="0" smtClean="0"/>
              <a:t>:</a:t>
            </a:r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 smtClean="0"/>
          </a:p>
          <a:p>
            <a:pPr lvl="1"/>
            <a:r>
              <a:rPr lang="fr-FR" sz="1600" b="1" dirty="0"/>
              <a:t>Fin de l'épisode 1</a:t>
            </a:r>
            <a:r>
              <a:rPr lang="fr-FR" sz="1600" b="1" dirty="0" smtClean="0"/>
              <a:t>.</a:t>
            </a:r>
            <a:endParaRPr lang="fr-FR" sz="1600" b="1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37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800210"/>
              </p:ext>
            </p:extLst>
          </p:nvPr>
        </p:nvGraphicFramePr>
        <p:xfrm>
          <a:off x="7248128" y="1916832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1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-0,5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776072" y="1340768"/>
            <a:ext cx="1008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 smtClean="0"/>
              <a:t>Q-table</a:t>
            </a:r>
            <a:endParaRPr lang="fr-FR" sz="18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6" y="2060848"/>
            <a:ext cx="4033214" cy="1080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439816" y="2060848"/>
            <a:ext cx="1728192" cy="65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3574196"/>
            <a:ext cx="4209709" cy="165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5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Épisode 2 : Propagation commence</a:t>
            </a:r>
          </a:p>
          <a:p>
            <a:r>
              <a:rPr lang="fr-FR" sz="2000" b="1" dirty="0"/>
              <a:t>Étape 1</a:t>
            </a:r>
            <a:r>
              <a:rPr lang="fr-FR" sz="2000" dirty="0"/>
              <a:t> : s = S3, on choisit ↑ (ε-</a:t>
            </a:r>
            <a:r>
              <a:rPr lang="fr-FR" sz="2000" dirty="0" err="1"/>
              <a:t>greedy</a:t>
            </a:r>
            <a:r>
              <a:rPr lang="fr-FR" sz="2000" dirty="0"/>
              <a:t>, exploration)</a:t>
            </a:r>
          </a:p>
          <a:p>
            <a:endParaRPr lang="fr-FR" sz="2000" dirty="0" smtClean="0"/>
          </a:p>
          <a:p>
            <a:endParaRPr lang="fr-FR" sz="2000" dirty="0" smtClean="0"/>
          </a:p>
          <a:p>
            <a:endParaRPr lang="fr-FR" sz="2000" dirty="0" smtClean="0"/>
          </a:p>
          <a:p>
            <a:pPr lvl="1"/>
            <a:r>
              <a:rPr lang="fr-FR" sz="1600" b="1" dirty="0"/>
              <a:t>Mise à jour Q(S3, ↑)</a:t>
            </a:r>
            <a:r>
              <a:rPr lang="fr-FR" sz="1600" dirty="0"/>
              <a:t> </a:t>
            </a:r>
            <a:r>
              <a:rPr lang="fr-FR" sz="1600" dirty="0" smtClean="0"/>
              <a:t>:</a:t>
            </a:r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r>
              <a:rPr lang="fr-FR" sz="1600" b="1" dirty="0"/>
              <a:t>Pas de changement (car tout est encore à 0 pour </a:t>
            </a:r>
            <a:r>
              <a:rPr lang="fr-FR" sz="1600" b="1" dirty="0" smtClean="0"/>
              <a:t>S3).</a:t>
            </a:r>
            <a:endParaRPr lang="fr-FR" sz="1600" b="1" dirty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 smtClean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38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0891107"/>
              </p:ext>
            </p:extLst>
          </p:nvPr>
        </p:nvGraphicFramePr>
        <p:xfrm>
          <a:off x="7248128" y="1916832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1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-0,5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776072" y="1340768"/>
            <a:ext cx="1008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 smtClean="0"/>
              <a:t>Q-table</a:t>
            </a:r>
            <a:endParaRPr lang="fr-FR" sz="1800" dirty="0"/>
          </a:p>
        </p:txBody>
      </p:sp>
      <p:sp>
        <p:nvSpPr>
          <p:cNvPr id="8" name="Rectangle 7"/>
          <p:cNvSpPr/>
          <p:nvPr/>
        </p:nvSpPr>
        <p:spPr>
          <a:xfrm>
            <a:off x="4439816" y="2060848"/>
            <a:ext cx="1728192" cy="65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015" y="2141846"/>
            <a:ext cx="2181529" cy="82879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015" y="3704544"/>
            <a:ext cx="3572374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2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Épisode 2 : Propagation commence</a:t>
            </a:r>
          </a:p>
          <a:p>
            <a:r>
              <a:rPr lang="fr-FR" sz="2000" b="1" dirty="0"/>
              <a:t>Étape 2</a:t>
            </a:r>
            <a:r>
              <a:rPr lang="fr-FR" sz="2000" dirty="0"/>
              <a:t> : s = S0, on choisit → (hasard)</a:t>
            </a:r>
            <a:endParaRPr lang="fr-FR" sz="2000" dirty="0" smtClean="0"/>
          </a:p>
          <a:p>
            <a:endParaRPr lang="fr-FR" sz="2000" dirty="0" smtClean="0"/>
          </a:p>
          <a:p>
            <a:endParaRPr lang="fr-FR" sz="2000" dirty="0" smtClean="0"/>
          </a:p>
          <a:p>
            <a:endParaRPr lang="fr-FR" sz="2000" dirty="0" smtClean="0"/>
          </a:p>
          <a:p>
            <a:pPr lvl="1"/>
            <a:r>
              <a:rPr lang="fr-FR" sz="1600" b="1" dirty="0"/>
              <a:t>Mise à jour Q(S0, →)</a:t>
            </a:r>
            <a:r>
              <a:rPr lang="fr-FR" sz="1600" dirty="0"/>
              <a:t> :</a:t>
            </a:r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r>
              <a:rPr lang="fr-FR" sz="1600" dirty="0"/>
              <a:t>La valeur de S1 se propage vers S0 !</a:t>
            </a:r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 smtClean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39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27790"/>
              </p:ext>
            </p:extLst>
          </p:nvPr>
        </p:nvGraphicFramePr>
        <p:xfrm>
          <a:off x="7248128" y="1916832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0,09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1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-0,5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776072" y="1340768"/>
            <a:ext cx="1008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 smtClean="0"/>
              <a:t>Q-table</a:t>
            </a:r>
            <a:endParaRPr lang="fr-FR" sz="1800" dirty="0"/>
          </a:p>
        </p:txBody>
      </p:sp>
      <p:sp>
        <p:nvSpPr>
          <p:cNvPr id="8" name="Rectangle 7"/>
          <p:cNvSpPr/>
          <p:nvPr/>
        </p:nvSpPr>
        <p:spPr>
          <a:xfrm>
            <a:off x="4439816" y="2060848"/>
            <a:ext cx="1728192" cy="65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2132856"/>
            <a:ext cx="2191056" cy="90500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3603085"/>
            <a:ext cx="5420481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731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Épisode 2 : Propagation commence</a:t>
            </a:r>
          </a:p>
          <a:p>
            <a:r>
              <a:rPr lang="fr-FR" sz="2000" b="1" dirty="0"/>
              <a:t>Étape 3</a:t>
            </a:r>
            <a:r>
              <a:rPr lang="fr-FR" sz="2000" dirty="0"/>
              <a:t> : s = S1, on choisit → (</a:t>
            </a:r>
            <a:r>
              <a:rPr lang="fr-FR" sz="2000" dirty="0" err="1"/>
              <a:t>greedy</a:t>
            </a:r>
            <a:r>
              <a:rPr lang="fr-FR" sz="2000" dirty="0"/>
              <a:t>, car Q=1.0 là</a:t>
            </a:r>
            <a:r>
              <a:rPr lang="fr-FR" sz="2000" dirty="0" smtClean="0"/>
              <a:t>)</a:t>
            </a:r>
          </a:p>
          <a:p>
            <a:pPr marL="0" indent="0">
              <a:buNone/>
            </a:pPr>
            <a:endParaRPr lang="fr-FR" sz="2000" dirty="0" smtClean="0"/>
          </a:p>
          <a:p>
            <a:endParaRPr lang="fr-FR" sz="2000" dirty="0" smtClean="0"/>
          </a:p>
          <a:p>
            <a:endParaRPr lang="fr-FR" sz="2000" dirty="0" smtClean="0"/>
          </a:p>
          <a:p>
            <a:pPr lvl="1"/>
            <a:r>
              <a:rPr lang="fr-FR" sz="1600" b="1" dirty="0"/>
              <a:t>Mise à jour Q(S1, →)</a:t>
            </a:r>
            <a:r>
              <a:rPr lang="fr-FR" sz="1600" dirty="0"/>
              <a:t> :</a:t>
            </a:r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/>
          </a:p>
          <a:p>
            <a:pPr lvl="1"/>
            <a:endParaRPr lang="fr-FR" sz="1600" dirty="0" smtClean="0"/>
          </a:p>
          <a:p>
            <a:pPr lvl="1"/>
            <a:endParaRPr lang="fr-FR" sz="1600" dirty="0" smtClean="0"/>
          </a:p>
          <a:p>
            <a:pPr lvl="1"/>
            <a:r>
              <a:rPr lang="fr-FR" sz="1600" b="1" dirty="0" smtClean="0"/>
              <a:t>Q(S1</a:t>
            </a:r>
            <a:r>
              <a:rPr lang="fr-FR" sz="1600" b="1" dirty="0"/>
              <a:t>, →) </a:t>
            </a:r>
            <a:r>
              <a:rPr lang="fr-FR" sz="1600" b="1" dirty="0">
                <a:solidFill>
                  <a:srgbClr val="FF0000"/>
                </a:solidFill>
              </a:rPr>
              <a:t>s'améliore</a:t>
            </a:r>
            <a:r>
              <a:rPr lang="fr-FR" sz="1600" b="1" dirty="0"/>
              <a:t> : 1.0 → </a:t>
            </a:r>
            <a:r>
              <a:rPr lang="fr-FR" sz="1600" b="1" dirty="0" smtClean="0"/>
              <a:t>1.9</a:t>
            </a:r>
            <a:endParaRPr lang="fr-FR" sz="1600" dirty="0" smtClean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40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83882"/>
              </p:ext>
            </p:extLst>
          </p:nvPr>
        </p:nvGraphicFramePr>
        <p:xfrm>
          <a:off x="7248128" y="1916832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0,09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1,9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-0,5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776072" y="1340768"/>
            <a:ext cx="1008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800" b="1" dirty="0" smtClean="0"/>
              <a:t>Q-table</a:t>
            </a:r>
            <a:endParaRPr lang="fr-FR" sz="1800" dirty="0"/>
          </a:p>
        </p:txBody>
      </p:sp>
      <p:sp>
        <p:nvSpPr>
          <p:cNvPr id="8" name="Rectangle 7"/>
          <p:cNvSpPr/>
          <p:nvPr/>
        </p:nvSpPr>
        <p:spPr>
          <a:xfrm>
            <a:off x="4439816" y="2060848"/>
            <a:ext cx="1728192" cy="655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74" y="2080280"/>
            <a:ext cx="2133898" cy="93358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174" y="3584786"/>
            <a:ext cx="3505689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440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4526632"/>
          </a:xfrm>
        </p:spPr>
        <p:txBody>
          <a:bodyPr/>
          <a:lstStyle/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</a:rPr>
              <a:t>Après 100 épisodes</a:t>
            </a:r>
          </a:p>
          <a:p>
            <a:r>
              <a:rPr lang="fr-FR" sz="2000" dirty="0"/>
              <a:t>La table Q converge progressivement :</a:t>
            </a:r>
          </a:p>
          <a:p>
            <a:pPr marL="0" indent="0">
              <a:buNone/>
            </a:pPr>
            <a:endParaRPr lang="fr-FR" sz="2000" dirty="0" smtClean="0"/>
          </a:p>
          <a:p>
            <a:endParaRPr lang="fr-FR" sz="2000" dirty="0" smtClean="0"/>
          </a:p>
          <a:p>
            <a:endParaRPr lang="fr-FR" sz="2000" dirty="0" smtClean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B273A-CC0E-448F-BDAB-74B2C7355EEC}" type="slidenum">
              <a:rPr lang="fr-FR" altLang="fr-FR" smtClean="0"/>
              <a:pPr>
                <a:defRPr/>
              </a:pPr>
              <a:t>41</a:t>
            </a:fld>
            <a:endParaRPr lang="fr-FR" alt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523528"/>
          </a:xfrm>
        </p:spPr>
        <p:txBody>
          <a:bodyPr/>
          <a:lstStyle/>
          <a:p>
            <a:r>
              <a:rPr lang="fr-FR" sz="4000" dirty="0" err="1" smtClean="0"/>
              <a:t>Q-learning</a:t>
            </a:r>
            <a:endParaRPr lang="fr-FR" sz="4000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307656"/>
              </p:ext>
            </p:extLst>
          </p:nvPr>
        </p:nvGraphicFramePr>
        <p:xfrm>
          <a:off x="2407816" y="2306144"/>
          <a:ext cx="4064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75092254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9448234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70797065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716148802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9315709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↑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→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↓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smtClean="0"/>
                        <a:t>←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752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7,3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16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9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6,5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24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252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6,6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E6E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-5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86713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>
                    <a:solidFill>
                      <a:srgbClr val="FF33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8,1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553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0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rPr>
                        <a:t>7,3</a:t>
                      </a:r>
                      <a:endParaRPr kumimoji="0" lang="fr-F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8816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82288" y="1772816"/>
            <a:ext cx="35125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000" b="1" dirty="0"/>
              <a:t>Politique optimale extraite</a:t>
            </a:r>
            <a:r>
              <a:rPr lang="fr-FR" sz="2000" dirty="0"/>
              <a:t> :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2305255"/>
            <a:ext cx="2448272" cy="125074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03733" y="5583212"/>
            <a:ext cx="4384534" cy="40011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fr-FR" sz="2000" dirty="0"/>
              <a:t>Le robot a appris le chemin optimal ! </a:t>
            </a: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576569"/>
              </p:ext>
            </p:extLst>
          </p:nvPr>
        </p:nvGraphicFramePr>
        <p:xfrm>
          <a:off x="8205770" y="3787846"/>
          <a:ext cx="2065536" cy="1245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8512">
                  <a:extLst>
                    <a:ext uri="{9D8B030D-6E8A-4147-A177-3AD203B41FA5}">
                      <a16:colId xmlns:a16="http://schemas.microsoft.com/office/drawing/2014/main" val="2467633850"/>
                    </a:ext>
                  </a:extLst>
                </a:gridCol>
                <a:gridCol w="688512">
                  <a:extLst>
                    <a:ext uri="{9D8B030D-6E8A-4147-A177-3AD203B41FA5}">
                      <a16:colId xmlns:a16="http://schemas.microsoft.com/office/drawing/2014/main" val="3644447114"/>
                    </a:ext>
                  </a:extLst>
                </a:gridCol>
                <a:gridCol w="688512">
                  <a:extLst>
                    <a:ext uri="{9D8B030D-6E8A-4147-A177-3AD203B41FA5}">
                      <a16:colId xmlns:a16="http://schemas.microsoft.com/office/drawing/2014/main" val="2350914970"/>
                    </a:ext>
                  </a:extLst>
                </a:gridCol>
              </a:tblGrid>
              <a:tr h="622575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S0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S1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S2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061712"/>
                  </a:ext>
                </a:extLst>
              </a:tr>
              <a:tr h="622575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S3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S4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S5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377818"/>
                  </a:ext>
                </a:extLst>
              </a:tr>
            </a:tbl>
          </a:graphicData>
        </a:graphic>
      </p:graphicFrame>
      <p:cxnSp>
        <p:nvCxnSpPr>
          <p:cNvPr id="15" name="Connecteur droit avec flèche 14"/>
          <p:cNvCxnSpPr/>
          <p:nvPr/>
        </p:nvCxnSpPr>
        <p:spPr>
          <a:xfrm flipV="1">
            <a:off x="8760296" y="4276928"/>
            <a:ext cx="0" cy="4482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8832304" y="4293096"/>
            <a:ext cx="5760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9480376" y="4293096"/>
            <a:ext cx="57606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379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9875</TotalTime>
  <Words>4228</Words>
  <Application>Microsoft Office PowerPoint</Application>
  <PresentationFormat>Grand écran</PresentationFormat>
  <Paragraphs>1115</Paragraphs>
  <Slides>41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41</vt:i4>
      </vt:variant>
    </vt:vector>
  </HeadingPairs>
  <TitlesOfParts>
    <vt:vector size="49" baseType="lpstr">
      <vt:lpstr>Arial</vt:lpstr>
      <vt:lpstr>Arial Black</vt:lpstr>
      <vt:lpstr>Calibri</vt:lpstr>
      <vt:lpstr>Cambria Math</vt:lpstr>
      <vt:lpstr>Symbol</vt:lpstr>
      <vt:lpstr>Times New Roman</vt:lpstr>
      <vt:lpstr>Wingdings</vt:lpstr>
      <vt:lpstr>Pixel</vt:lpstr>
      <vt:lpstr>Apprentissage par renforcement (RL)</vt:lpstr>
      <vt:lpstr>Introduction générale</vt:lpstr>
      <vt:lpstr>Les concepts fondamentaux</vt:lpstr>
      <vt:lpstr>Agent RL</vt:lpstr>
      <vt:lpstr>Comparaison avec les autres types d’apprentissage</vt:lpstr>
      <vt:lpstr>Politique (π) : définition</vt:lpstr>
      <vt:lpstr>Politique (π) : définition</vt:lpstr>
      <vt:lpstr>Politique (π) : définition</vt:lpstr>
      <vt:lpstr>Comment on apprend π*?</vt:lpstr>
      <vt:lpstr>Pourquoi évaluer une politique ?</vt:lpstr>
      <vt:lpstr>Fonction de valeur d’un état : Vπ(s)</vt:lpstr>
      <vt:lpstr>La fonction de valeur d’action : Qπ(s,a)</vt:lpstr>
      <vt:lpstr>Relation entre V et Q</vt:lpstr>
      <vt:lpstr>Exemple</vt:lpstr>
      <vt:lpstr>Exemple</vt:lpstr>
      <vt:lpstr>Exemple</vt:lpstr>
      <vt:lpstr>Exemple</vt:lpstr>
      <vt:lpstr>Exemple</vt:lpstr>
      <vt:lpstr>Exemple</vt:lpstr>
      <vt:lpstr>Exemple</vt:lpstr>
      <vt:lpstr>Équation de Bellman</vt:lpstr>
      <vt:lpstr>Équation de Bellman</vt:lpstr>
      <vt:lpstr>Équation de Bellman</vt:lpstr>
      <vt:lpstr>Équation de Bellman</vt:lpstr>
      <vt:lpstr>Équation de Bellman</vt:lpstr>
      <vt:lpstr>Équation de Bellman</vt:lpstr>
      <vt:lpstr>Équation de Bellman</vt:lpstr>
      <vt:lpstr>Équation de Bellman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</vt:vector>
  </TitlesOfParts>
  <Company>Unicornis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Unicornis</dc:creator>
  <cp:lastModifiedBy>user</cp:lastModifiedBy>
  <cp:revision>939</cp:revision>
  <dcterms:created xsi:type="dcterms:W3CDTF">2009-12-10T23:26:45Z</dcterms:created>
  <dcterms:modified xsi:type="dcterms:W3CDTF">2026-04-05T20:30:41Z</dcterms:modified>
</cp:coreProperties>
</file>